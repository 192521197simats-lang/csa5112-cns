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oundations" id="{cdaac04d-c444-eeae-c4eb-655bb47f7e57}">
          <p14:sldIdLst>
            <p14:sldId id="256"/>
            <p14:sldId id="257"/>
            <p14:sldId id="258"/>
          </p14:sldIdLst>
        </p14:section>
        <p14:section name="Threats, Attacks and Risks" id="{5971eb6f-9475-d457-419f-c6c69dd9fed2}">
          <p14:sldIdLst>
            <p14:sldId id="259"/>
            <p14:sldId id="260"/>
            <p14:sldId id="261"/>
            <p14:sldId id="262"/>
            <p14:sldId id="263"/>
            <p14:sldId id="264"/>
          </p14:sldIdLst>
        </p14:section>
        <p14:section name="Case Study and Defence" id="{669675b4-02cf-4c04-3f23-a383112a1155}">
          <p14:sldIdLst>
            <p14:sldId id="265"/>
            <p14:sldId id="266"/>
          </p14:sldIdLst>
        </p14:section>
        <p14:section name="Wrap-up" id="{c2682e2a-5583-9114-afb8-faaa35e4922a}">
          <p14:sldIdLst>
            <p14:sldId id="267"/>
            <p14:sldId id="268"/>
            <p14:sldId id="26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imes New Roman" panose="02020603050405020304"/>
                <a:ea typeface="Times New Roman" panose="02020603050405020304"/>
                <a:cs typeface="Times New Roman" panose="02020603050405020304"/>
              </a:rPr>
              <a:t>Opening: Good morning. I am presenting on security attacks, threats, risks and how they affect the three security goals. The full opening speech is in the companion document. Keep this slide short: say the topic, course and your name.</a:t>
            </a:r>
            <a:endParaRPr lang="en-US" dirty="0">
              <a:latin typeface="Times New Roman" panose="02020603050405020304"/>
              <a:ea typeface="Times New Roman" panose="02020603050405020304"/>
              <a:cs typeface="Times New Roman" panose="02020603050405020304"/>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a:ea typeface="Times New Roman" panose="02020603050405020304"/>
                <a:cs typeface="Times New Roman" panose="02020603050405020304"/>
              </a:rPr>
            </a:fld>
            <a:endParaRPr lang="en-US">
              <a:latin typeface="Times New Roman" panose="02020603050405020304"/>
              <a:ea typeface="Times New Roman" panose="02020603050405020304"/>
              <a:cs typeface="Times New Roman" panose="020206030504050203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imes New Roman" panose="02020603050405020304"/>
                <a:ea typeface="Times New Roman" panose="02020603050405020304"/>
                <a:cs typeface="Times New Roman" panose="02020603050405020304"/>
              </a:rPr>
              <a:t>Cybersecurity means protecting computers, networks and data. We protect four things: data, devices, networks and services. Everything we use daily, from exam portals to ticket booking, depends on these being safe. Ask the audience: what online service would hurt most if it failed?</a:t>
            </a:r>
            <a:endParaRPr lang="en-US" dirty="0">
              <a:latin typeface="Times New Roman" panose="02020603050405020304"/>
              <a:ea typeface="Times New Roman" panose="02020603050405020304"/>
              <a:cs typeface="Times New Roman" panose="02020603050405020304"/>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a:ea typeface="Times New Roman" panose="02020603050405020304"/>
                <a:cs typeface="Times New Roman" panose="02020603050405020304"/>
              </a:rPr>
            </a:fld>
            <a:endParaRPr lang="en-US">
              <a:latin typeface="Times New Roman" panose="02020603050405020304"/>
              <a:ea typeface="Times New Roman" panose="02020603050405020304"/>
              <a:cs typeface="Times New Roman" panose="02020603050405020304"/>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imes New Roman" panose="02020603050405020304"/>
                <a:ea typeface="Times New Roman" panose="02020603050405020304"/>
                <a:cs typeface="Times New Roman" panose="02020603050405020304"/>
              </a:rPr>
              <a:t>The CIA triad is the base of information security. Confidentiality means secrecy, integrity means correctness, availability means access when needed. Use the marks example: only you see them, nobody changes them, and the portal works on result day. Mention that authentication and non-repudiation are also discussed in textbooks, but CIA is the core.</a:t>
            </a:r>
            <a:endParaRPr lang="en-US" dirty="0">
              <a:latin typeface="Times New Roman" panose="02020603050405020304"/>
              <a:ea typeface="Times New Roman" panose="02020603050405020304"/>
              <a:cs typeface="Times New Roman" panose="02020603050405020304"/>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a:ea typeface="Times New Roman" panose="02020603050405020304"/>
                <a:cs typeface="Times New Roman" panose="02020603050405020304"/>
              </a:rPr>
            </a:fld>
            <a:endParaRPr lang="en-US">
              <a:latin typeface="Times New Roman" panose="02020603050405020304"/>
              <a:ea typeface="Times New Roman" panose="02020603050405020304"/>
              <a:cs typeface="Times New Roman" panose="02020603050405020304"/>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imes New Roman" panose="02020603050405020304"/>
                <a:ea typeface="Times New Roman" panose="02020603050405020304"/>
                <a:cs typeface="Times New Roman" panose="02020603050405020304"/>
              </a:rPr>
              <a:t>A threat is only a possibility of harm. It has not happened yet. Think of dark clouds: they may bring rain but have not yet. Walk through the four groups. Stress that threats can be deliberate, like hackers, or accidental, like a power cut.</a:t>
            </a:r>
            <a:endParaRPr lang="en-US" dirty="0">
              <a:latin typeface="Times New Roman" panose="02020603050405020304"/>
              <a:ea typeface="Times New Roman" panose="02020603050405020304"/>
              <a:cs typeface="Times New Roman" panose="02020603050405020304"/>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a:ea typeface="Times New Roman" panose="02020603050405020304"/>
                <a:cs typeface="Times New Roman" panose="02020603050405020304"/>
              </a:rPr>
            </a:fld>
            <a:endParaRPr lang="en-US">
              <a:latin typeface="Times New Roman" panose="02020603050405020304"/>
              <a:ea typeface="Times New Roman" panose="02020603050405020304"/>
              <a:cs typeface="Times New Roman" panose="02020603050405020304"/>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imes New Roman" panose="02020603050405020304"/>
                <a:ea typeface="Times New Roman" panose="02020603050405020304"/>
                <a:cs typeface="Times New Roman" panose="02020603050405020304"/>
              </a:rPr>
              <a:t>An attack is an actual attempt to harm a system. Textbooks such as Stallings divide attacks into passive and active. Passive attacks only watch, so they are hard to notice; the focus is prevention. Active attacks change data or stop services; the focus is detection and recovery. The bottom strip shows how an attack unfolds.</a:t>
            </a:r>
            <a:endParaRPr lang="en-US" dirty="0">
              <a:latin typeface="Times New Roman" panose="02020603050405020304"/>
              <a:ea typeface="Times New Roman" panose="02020603050405020304"/>
              <a:cs typeface="Times New Roman" panose="02020603050405020304"/>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a:ea typeface="Times New Roman" panose="02020603050405020304"/>
                <a:cs typeface="Times New Roman" panose="02020603050405020304"/>
              </a:rPr>
            </a:fld>
            <a:endParaRPr lang="en-US">
              <a:latin typeface="Times New Roman" panose="02020603050405020304"/>
              <a:ea typeface="Times New Roman" panose="02020603050405020304"/>
              <a:cs typeface="Times New Roman" panose="02020603050405020304"/>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imes New Roman" panose="02020603050405020304"/>
                <a:ea typeface="Times New Roman" panose="02020603050405020304"/>
                <a:cs typeface="Times New Roman" panose="02020603050405020304"/>
              </a:rPr>
              <a:t>A vulnerability is a weakness. A threat can exploit it. When both exist, there is a risk, which is the chance of loss multiplied by how bad the loss would be. This is a simple way to remember it, not an exact calculation. Risk management means identify, assess, treat and monitor.</a:t>
            </a:r>
            <a:endParaRPr lang="en-US" dirty="0">
              <a:latin typeface="Times New Roman" panose="02020603050405020304"/>
              <a:ea typeface="Times New Roman" panose="02020603050405020304"/>
              <a:cs typeface="Times New Roman" panose="02020603050405020304"/>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a:ea typeface="Times New Roman" panose="02020603050405020304"/>
                <a:cs typeface="Times New Roman" panose="02020603050405020304"/>
              </a:rPr>
            </a:fld>
            <a:endParaRPr lang="en-US">
              <a:latin typeface="Times New Roman" panose="02020603050405020304"/>
              <a:ea typeface="Times New Roman" panose="02020603050405020304"/>
              <a:cs typeface="Times New Roman" panose="02020603050405020304"/>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imes New Roman" panose="02020603050405020304"/>
                <a:ea typeface="Times New Roman" panose="02020603050405020304"/>
                <a:cs typeface="Times New Roman" panose="02020603050405020304"/>
              </a:rPr>
              <a:t>Five common attacks. Phishing tricks the user. Malware is harmful software. Denial-of-service floods a server. Password attacks guess or steal credentials. Man-in-the-middle sits secretly between two parties. Give the example in each row in your own words.</a:t>
            </a:r>
            <a:endParaRPr lang="en-US" dirty="0">
              <a:latin typeface="Times New Roman" panose="02020603050405020304"/>
              <a:ea typeface="Times New Roman" panose="02020603050405020304"/>
              <a:cs typeface="Times New Roman" panose="02020603050405020304"/>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a:ea typeface="Times New Roman" panose="02020603050405020304"/>
                <a:cs typeface="Times New Roman" panose="02020603050405020304"/>
              </a:rPr>
            </a:fld>
            <a:endParaRPr lang="en-US">
              <a:latin typeface="Times New Roman" panose="02020603050405020304"/>
              <a:ea typeface="Times New Roman" panose="02020603050405020304"/>
              <a:cs typeface="Times New Roman" panose="02020603050405020304"/>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imes New Roman" panose="02020603050405020304"/>
                <a:ea typeface="Times New Roman" panose="02020603050405020304"/>
                <a:cs typeface="Times New Roman" panose="02020603050405020304"/>
              </a:rPr>
              <a:t>Students often mix these three words. A threat is a possible danger, an attack is the real attempt, and a risk is a measure of how likely and how harmful a loss could be. Use the weather picture: dark clouds are the threat, the storm is the attack, and the chance of flood damage is the risk.</a:t>
            </a:r>
            <a:endParaRPr lang="en-US" dirty="0">
              <a:latin typeface="Times New Roman" panose="02020603050405020304"/>
              <a:ea typeface="Times New Roman" panose="02020603050405020304"/>
              <a:cs typeface="Times New Roman" panose="02020603050405020304"/>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a:ea typeface="Times New Roman" panose="02020603050405020304"/>
                <a:cs typeface="Times New Roman" panose="02020603050405020304"/>
              </a:rPr>
            </a:fld>
            <a:endParaRPr lang="en-US">
              <a:latin typeface="Times New Roman" panose="02020603050405020304"/>
              <a:ea typeface="Times New Roman" panose="02020603050405020304"/>
              <a:cs typeface="Times New Roman" panose="02020603050405020304"/>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imes New Roman" panose="02020603050405020304"/>
                <a:ea typeface="Times New Roman" panose="02020603050405020304"/>
                <a:cs typeface="Times New Roman" panose="02020603050405020304"/>
              </a:rPr>
              <a:t>This table links each attack to the goals it damages. Red cells are the main impact, yellow cells are possible impact. It is a simplified guide: the real impact depends on the attacker’s aim. Malware varies: spyware hits confidentiality, file-infecting viruses hit integrity, ransomware hits availability.</a:t>
            </a:r>
            <a:endParaRPr lang="en-US" dirty="0">
              <a:latin typeface="Times New Roman" panose="02020603050405020304"/>
              <a:ea typeface="Times New Roman" panose="02020603050405020304"/>
              <a:cs typeface="Times New Roman" panose="02020603050405020304"/>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a:ea typeface="Times New Roman" panose="02020603050405020304"/>
                <a:cs typeface="Times New Roman" panose="02020603050405020304"/>
              </a:rPr>
            </a:fld>
            <a:endParaRPr lang="en-US">
              <a:latin typeface="Times New Roman" panose="02020603050405020304"/>
              <a:ea typeface="Times New Roman" panose="02020603050405020304"/>
              <a:cs typeface="Times New Roman" panose="02020603050405020304"/>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imes New Roman" panose="02020603050405020304"/>
                <a:ea typeface="Times New Roman" panose="02020603050405020304"/>
                <a:cs typeface="Times New Roman" panose="02020603050405020304"/>
              </a:rPr>
              <a:t>This is a hypothetical case study for learning, not a real system and not experimental results. Imagine a campus fest ticket portal. Point to the numbers on the diagram: 1 is phishing against students, 2 is a flood of fake requests on sale day, 3 is tampering with prices or seats. Then read each row: attack, effect, goal affected, defence.</a:t>
            </a:r>
            <a:endParaRPr lang="en-US" dirty="0">
              <a:latin typeface="Times New Roman" panose="02020603050405020304"/>
              <a:ea typeface="Times New Roman" panose="02020603050405020304"/>
              <a:cs typeface="Times New Roman" panose="02020603050405020304"/>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a:ea typeface="Times New Roman" panose="02020603050405020304"/>
                <a:cs typeface="Times New Roman" panose="02020603050405020304"/>
              </a:rPr>
            </a:fld>
            <a:endParaRPr lang="en-US">
              <a:latin typeface="Times New Roman" panose="02020603050405020304"/>
              <a:ea typeface="Times New Roman" panose="02020603050405020304"/>
              <a:cs typeface="Times New Roman" panose="02020603050405020304"/>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imes New Roman" panose="02020603050405020304"/>
                <a:ea typeface="Times New Roman" panose="02020603050405020304"/>
                <a:cs typeface="Times New Roman" panose="02020603050405020304"/>
              </a:rPr>
              <a:t>Good security uses layers: technology, people and process. Each card shows a control and which goals it protects. C is confidentiality, I is integrity, A is availability. No single control is enough, so we combine them. Link back to the case study: MFA for phishing, rate limiting for DoS, validation for tampering.</a:t>
            </a:r>
            <a:endParaRPr lang="en-US" dirty="0">
              <a:latin typeface="Times New Roman" panose="02020603050405020304"/>
              <a:ea typeface="Times New Roman" panose="02020603050405020304"/>
              <a:cs typeface="Times New Roman" panose="02020603050405020304"/>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a:ea typeface="Times New Roman" panose="02020603050405020304"/>
                <a:cs typeface="Times New Roman" panose="02020603050405020304"/>
              </a:rPr>
            </a:fld>
            <a:endParaRPr lang="en-US">
              <a:latin typeface="Times New Roman" panose="02020603050405020304"/>
              <a:ea typeface="Times New Roman" panose="02020603050405020304"/>
              <a:cs typeface="Times New Roman" panose="02020603050405020304"/>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imes New Roman" panose="02020603050405020304"/>
                <a:ea typeface="Times New Roman" panose="02020603050405020304"/>
                <a:cs typeface="Times New Roman" panose="02020603050405020304"/>
              </a:rPr>
              <a:t>Summary: the CIA triad tells us what to protect. A threat is a possible danger, an attack is the real attempt, and a risk is the chance of loss. Each attack hits different goals, and layered defence reduces risk. End with: security is continuous, not one-time. The conclusion speech is in the companion document.</a:t>
            </a:r>
            <a:endParaRPr lang="en-US" dirty="0">
              <a:latin typeface="Times New Roman" panose="02020603050405020304"/>
              <a:ea typeface="Times New Roman" panose="02020603050405020304"/>
              <a:cs typeface="Times New Roman" panose="02020603050405020304"/>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a:ea typeface="Times New Roman" panose="02020603050405020304"/>
                <a:cs typeface="Times New Roman" panose="02020603050405020304"/>
              </a:rPr>
            </a:fld>
            <a:endParaRPr lang="en-US">
              <a:latin typeface="Times New Roman" panose="02020603050405020304"/>
              <a:ea typeface="Times New Roman" panose="02020603050405020304"/>
              <a:cs typeface="Times New Roman" panose="02020603050405020304"/>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imes New Roman" panose="02020603050405020304"/>
                <a:ea typeface="Times New Roman" panose="02020603050405020304"/>
                <a:cs typeface="Times New Roman" panose="02020603050405020304"/>
              </a:rPr>
              <a:t>These are genuine textbooks, standards and government guidance. Mention that Stallings is the main textbook and RFC 4949 gives official definitions of threat, attack and vulnerability. Close by thanking the audience and inviting questions.</a:t>
            </a:r>
            <a:endParaRPr lang="en-US" dirty="0">
              <a:latin typeface="Times New Roman" panose="02020603050405020304"/>
              <a:ea typeface="Times New Roman" panose="02020603050405020304"/>
              <a:cs typeface="Times New Roman" panose="02020603050405020304"/>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a:ea typeface="Times New Roman" panose="02020603050405020304"/>
                <a:cs typeface="Times New Roman" panose="02020603050405020304"/>
              </a:rPr>
            </a:fld>
            <a:endParaRPr lang="en-US">
              <a:latin typeface="Times New Roman" panose="02020603050405020304"/>
              <a:ea typeface="Times New Roman" panose="02020603050405020304"/>
              <a:cs typeface="Times New Roman" panose="02020603050405020304"/>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2"/>
          <a:stretch>
            <a:fillRect/>
          </a:stretch>
        </p:blipFill>
        <p:spPr>
          <a:xfrm>
            <a:off x="128016" y="0"/>
            <a:ext cx="1051560" cy="1261872"/>
          </a:xfrm>
          <a:prstGeom prst="rect">
            <a:avLst/>
          </a:prstGeom>
        </p:spPr>
      </p:pic>
      <p:pic>
        <p:nvPicPr>
          <p:cNvPr id="3" name="Image 1" descr="/home/claude/logo_right.png"/>
          <p:cNvPicPr>
            <a:picLocks noChangeAspect="1"/>
          </p:cNvPicPr>
          <p:nvPr/>
        </p:nvPicPr>
        <p:blipFill>
          <a:blip r:embed="rId3"/>
          <a:stretch>
            <a:fillRect/>
          </a:stretch>
        </p:blipFill>
        <p:spPr>
          <a:xfrm>
            <a:off x="10561320" y="0"/>
            <a:ext cx="1472184" cy="1408176"/>
          </a:xfrm>
          <a:prstGeom prst="rect">
            <a:avLst/>
          </a:prstGeom>
        </p:spPr>
      </p:pic>
      <p:sp>
        <p:nvSpPr>
          <p:cNvPr id="4" name="Text 0"/>
          <p:cNvSpPr/>
          <p:nvPr>
            <p:ph type="title" idx="102" hasCustomPrompt="1"/>
          </p:nvPr>
        </p:nvSpPr>
        <p:spPr>
          <a:xfrm>
            <a:off x="1371600" y="274320"/>
            <a:ext cx="9418320" cy="914400"/>
          </a:xfrm>
          <a:prstGeom prst="rect">
            <a:avLst/>
          </a:prstGeom>
          <a:noFill/>
        </p:spPr>
        <p:txBody>
          <a:bodyPr wrap="square" rtlCol="0"/>
          <a:lstStyle>
            <a:lvl1pPr marL="0" indent="0" algn="ctr">
              <a:buNone/>
              <a:defRPr lang="en-US" sz="32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defRPr>
            </a:lvl1pPr>
          </a:lstStyle>
          <a:p>
            <a:pPr marL="0" indent="0" algn="ctr">
              <a:buNone/>
            </a:pPr>
            <a:endParaRPr lang="en-US" sz="3200" dirty="0"/>
          </a:p>
        </p:txBody>
      </p:sp>
      <p:sp>
        <p:nvSpPr>
          <p:cNvPr id="25" name="Slide Number Placeholder 0"/>
          <p:cNvSpPr>
            <a:spLocks noGrp="1"/>
          </p:cNvSpPr>
          <p:nvPr>
            <p:ph type="sldNum" sz="quarter" idx="4294967295"/>
          </p:nvPr>
        </p:nvSpPr>
        <p:spPr>
          <a:xfrm>
            <a:off x="10972800" y="6428232"/>
            <a:ext cx="822960" cy="320040"/>
          </a:xfrm>
          <a:prstGeom prst="rect">
            <a:avLst/>
          </a:prstGeom>
        </p:spPr>
        <p:txBody>
          <a:bodyPr/>
          <a:lstStyle>
            <a:lvl1pPr>
              <a:defRPr sz="1400">
                <a:solidFill>
                  <a:srgbClr val="000000"/>
                </a:solidFill>
                <a:latin typeface="Times New Roman" panose="02020603050405020304"/>
                <a:ea typeface="Times New Roman" panose="02020603050405020304"/>
                <a:cs typeface="Times New Roman" panose="02020603050405020304"/>
              </a:defRPr>
            </a:lvl1pPr>
          </a:lstStyle>
          <a:p>
            <a:pPr algn="r"/>
            <a:fld id="{F7021451-1387-4CA6-816F-3879F97B5CBC}" type="slidenum">
              <a:rPr lang="en-US" b="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a:effectLst/>
      </p:bgPr>
    </p:bg>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2"/>
          <a:stretch>
            <a:fillRect/>
          </a:stretch>
        </p:blipFill>
        <p:spPr>
          <a:xfrm>
            <a:off x="128016" y="0"/>
            <a:ext cx="1051560" cy="1261872"/>
          </a:xfrm>
          <a:prstGeom prst="rect">
            <a:avLst/>
          </a:prstGeom>
        </p:spPr>
      </p:pic>
      <p:pic>
        <p:nvPicPr>
          <p:cNvPr id="3" name="Image 1" descr="/home/claude/logo_right.png"/>
          <p:cNvPicPr>
            <a:picLocks noChangeAspect="1"/>
          </p:cNvPicPr>
          <p:nvPr/>
        </p:nvPicPr>
        <p:blipFill>
          <a:blip r:embed="rId3"/>
          <a:stretch>
            <a:fillRect/>
          </a:stretch>
        </p:blipFill>
        <p:spPr>
          <a:xfrm>
            <a:off x="10561320" y="0"/>
            <a:ext cx="1472184" cy="140817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28232"/>
            <a:ext cx="822960" cy="320040"/>
          </a:xfrm>
          <a:prstGeom prst="rect">
            <a:avLst/>
          </a:prstGeom>
        </p:spPr>
        <p:txBody>
          <a:bodyPr/>
          <a:lstStyle>
            <a:lvl1pPr>
              <a:defRPr sz="1400">
                <a:solidFill>
                  <a:srgbClr val="000000"/>
                </a:solidFill>
                <a:latin typeface="Times New Roman" panose="02020603050405020304"/>
                <a:ea typeface="Times New Roman" panose="02020603050405020304"/>
                <a:cs typeface="Times New Roman" panose="02020603050405020304"/>
              </a:defRPr>
            </a:lvl1pPr>
          </a:lstStyle>
          <a:p>
            <a:pPr algn="r"/>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Times New Roman" panose="020206030504050203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Times New Roman" panose="020206030504050203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Times New Roman" panose="020206030504050203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Times New Roman" panose="020206030504050203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Times New Roman" panose="020206030504050203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Times New Roman" panose="020206030504050203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Times New Roman" panose="020206030504050203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Times New Roman" panose="020206030504050203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Times New Roman" panose="020206030504050203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in title"/>
          <p:cNvSpPr txBox="1"/>
          <p:nvPr/>
        </p:nvSpPr>
        <p:spPr>
          <a:xfrm>
            <a:off x="1371600" y="1371600"/>
            <a:ext cx="9418320" cy="1371600"/>
          </a:xfrm>
          <a:prstGeom prst="rect">
            <a:avLst/>
          </a:prstGeom>
          <a:noFill/>
        </p:spPr>
        <p:txBody>
          <a:bodyPr wrap="square" lIns="635" tIns="635" rIns="635" bIns="635" rtlCol="0" anchor="ctr"/>
          <a:lstStyle/>
          <a:p>
            <a:pPr marL="0" indent="0" algn="ctr">
              <a:buNone/>
            </a:pPr>
            <a:r>
              <a:rPr lang="en-US" sz="36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Security Attacks, Threats, Risks and Their Impact on Security Goals</a:t>
            </a:r>
            <a:endParaRPr lang="en-US" sz="3600" dirty="0"/>
          </a:p>
        </p:txBody>
      </p:sp>
      <p:sp>
        <p:nvSpPr>
          <p:cNvPr id="4" name="Course line"/>
          <p:cNvSpPr txBox="1"/>
          <p:nvPr/>
        </p:nvSpPr>
        <p:spPr>
          <a:xfrm>
            <a:off x="1371600" y="2880360"/>
            <a:ext cx="9418320" cy="914400"/>
          </a:xfrm>
          <a:prstGeom prst="rect">
            <a:avLst/>
          </a:prstGeom>
          <a:noFill/>
        </p:spPr>
        <p:txBody>
          <a:bodyPr wrap="square" lIns="635" tIns="635" rIns="635" bIns="635" rtlCol="0" anchor="t"/>
          <a:lstStyle/>
          <a:p>
            <a:pPr marL="0" indent="0" algn="ctr">
              <a:spcAft>
                <a:spcPts val="400"/>
              </a:spcAft>
              <a:buNone/>
            </a:pPr>
            <a:r>
              <a:rPr lang="en-US" sz="24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Cryptography and Network Security </a:t>
            </a:r>
            <a:endParaRPr lang="en-US" sz="2400" dirty="0"/>
          </a:p>
          <a:p>
            <a:pPr marL="0" indent="0" algn="ctr">
              <a:buNone/>
            </a:pPr>
            <a:r>
              <a:rPr lang="en-US" sz="24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Assessment Tool 3</a:t>
            </a:r>
            <a:endParaRPr lang="en-US" sz="2400" dirty="0"/>
          </a:p>
        </p:txBody>
      </p:sp>
      <p:sp>
        <p:nvSpPr>
          <p:cNvPr id="5" name="Presenter block"/>
          <p:cNvSpPr txBox="1"/>
          <p:nvPr/>
        </p:nvSpPr>
        <p:spPr>
          <a:xfrm>
            <a:off x="669290" y="5090795"/>
            <a:ext cx="3366770" cy="1228725"/>
          </a:xfrm>
          <a:prstGeom prst="rect">
            <a:avLst/>
          </a:prstGeom>
          <a:noFill/>
        </p:spPr>
        <p:txBody>
          <a:bodyPr wrap="square" lIns="635" tIns="635" rIns="635" bIns="635" rtlCol="0" anchor="t"/>
          <a:lstStyle/>
          <a:p>
            <a:pPr marL="0" indent="0">
              <a:buNone/>
            </a:pPr>
            <a:r>
              <a:rPr lang="en-US" sz="20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PRESENTED BY:</a:t>
            </a:r>
            <a:endParaRPr lang="en-US" sz="2000" dirty="0"/>
          </a:p>
          <a:p>
            <a:pPr marL="0" indent="0">
              <a:buNone/>
            </a:pPr>
            <a:r>
              <a:rPr lang="en-US" sz="20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LAKSHUMIPRIYA O S </a:t>
            </a:r>
            <a:br>
              <a:rPr lang="en-US" sz="20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br>
            <a:r>
              <a:rPr lang="en-US" sz="20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(192521197)</a:t>
            </a:r>
            <a:br>
              <a:rPr lang="en-US" sz="20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b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2" hasCustomPrompt="1"/>
          </p:nvPr>
        </p:nvSpPr>
        <p:spPr>
          <a:xfrm>
            <a:off x="1371600" y="274320"/>
            <a:ext cx="9418320" cy="914400"/>
          </a:xfrm>
          <a:prstGeom prst="rect">
            <a:avLst/>
          </a:prstGeom>
          <a:noFill/>
        </p:spPr>
        <p:txBody>
          <a:bodyPr wrap="square" lIns="0" tIns="0" rIns="0" bIns="0" rtlCol="0" anchor="ctr"/>
          <a:lstStyle/>
          <a:p>
            <a:pPr marL="0" indent="0" algn="ctr">
              <a:buNone/>
            </a:pPr>
            <a:r>
              <a:rPr lang="en-US" sz="32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Introduction to Cybersecurity</a:t>
            </a:r>
            <a:endParaRPr lang="en-US" sz="3200" dirty="0"/>
          </a:p>
        </p:txBody>
      </p:sp>
      <p:sp>
        <p:nvSpPr>
          <p:cNvPr id="4" name="Intro bullets"/>
          <p:cNvSpPr txBox="1"/>
          <p:nvPr/>
        </p:nvSpPr>
        <p:spPr>
          <a:xfrm>
            <a:off x="548640" y="1645920"/>
            <a:ext cx="5943600" cy="4572000"/>
          </a:xfrm>
          <a:prstGeom prst="rect">
            <a:avLst/>
          </a:prstGeom>
          <a:noFill/>
        </p:spPr>
        <p:txBody>
          <a:bodyPr wrap="square" lIns="635" tIns="635" rIns="635" bIns="635" rtlCol="0" anchor="t"/>
          <a:lstStyle/>
          <a:p>
            <a:pPr marL="342900" indent="-342900">
              <a:spcAft>
                <a:spcPts val="600"/>
              </a:spcAft>
              <a:buSzPct val="100000"/>
              <a:buChar char="•"/>
            </a:pPr>
            <a:r>
              <a:rPr lang="en-US" sz="24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Cybersecurity protects computers, networks and data from harm.</a:t>
            </a:r>
            <a:endParaRPr lang="en-US" sz="2400" dirty="0"/>
          </a:p>
          <a:p>
            <a:pPr marL="342900" indent="-342900">
              <a:spcAft>
                <a:spcPts val="600"/>
              </a:spcAft>
              <a:buSzPct val="100000"/>
              <a:buChar char="•"/>
            </a:pPr>
            <a:r>
              <a:rPr lang="en-US" sz="24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It stops unauthorised access, damage and misuse.</a:t>
            </a:r>
            <a:endParaRPr lang="en-US" sz="2400" dirty="0"/>
          </a:p>
          <a:p>
            <a:pPr marL="342900" indent="-342900">
              <a:spcAft>
                <a:spcPts val="600"/>
              </a:spcAft>
              <a:buSzPct val="100000"/>
              <a:buChar char="•"/>
            </a:pPr>
            <a:r>
              <a:rPr lang="en-US" sz="24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Daily life is online: banking, exams, tickets and social media.</a:t>
            </a:r>
            <a:endParaRPr lang="en-US" sz="2400" dirty="0"/>
          </a:p>
          <a:p>
            <a:pPr marL="342900" indent="-342900">
              <a:spcAft>
                <a:spcPts val="600"/>
              </a:spcAft>
              <a:buSzPct val="100000"/>
              <a:buChar char="•"/>
            </a:pPr>
            <a:r>
              <a:rPr lang="en-US" sz="24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Attackers search for weak points; defenders must close them.</a:t>
            </a:r>
            <a:endParaRPr lang="en-US" sz="2400" dirty="0"/>
          </a:p>
          <a:p>
            <a:pPr marL="342900" indent="-342900">
              <a:spcAft>
                <a:spcPts val="600"/>
              </a:spcAft>
              <a:buSzPct val="100000"/>
              <a:buChar char="•"/>
            </a:pPr>
            <a:r>
              <a:rPr lang="en-US" sz="24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Cryptography (encryption, hashing, digital signatures) is a key tool of network security.</a:t>
            </a:r>
            <a:endParaRPr lang="en-US" sz="2400" dirty="0"/>
          </a:p>
        </p:txBody>
      </p:sp>
      <p:sp>
        <p:nvSpPr>
          <p:cNvPr id="5" name="Assets heading"/>
          <p:cNvSpPr txBox="1"/>
          <p:nvPr/>
        </p:nvSpPr>
        <p:spPr>
          <a:xfrm>
            <a:off x="6858000" y="1417320"/>
            <a:ext cx="4754880" cy="365760"/>
          </a:xfrm>
          <a:prstGeom prst="rect">
            <a:avLst/>
          </a:prstGeom>
          <a:noFill/>
        </p:spPr>
        <p:txBody>
          <a:bodyPr wrap="square" lIns="635" tIns="635" rIns="635" bIns="635" rtlCol="0" anchor="t"/>
          <a:lstStyle/>
          <a:p>
            <a:pPr marL="0" indent="0" algn="ctr">
              <a:buNone/>
            </a:pPr>
            <a:r>
              <a:rPr lang="en-US" sz="24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What we protect</a:t>
            </a:r>
            <a:endParaRPr lang="en-US" sz="2400" dirty="0"/>
          </a:p>
        </p:txBody>
      </p:sp>
      <p:sp>
        <p:nvSpPr>
          <p:cNvPr id="6" name="Asset card 1"/>
          <p:cNvSpPr/>
          <p:nvPr/>
        </p:nvSpPr>
        <p:spPr>
          <a:xfrm>
            <a:off x="6858000" y="1874520"/>
            <a:ext cx="4754880" cy="987552"/>
          </a:xfrm>
          <a:prstGeom prst="roundRect">
            <a:avLst>
              <a:gd name="adj" fmla="val 9259"/>
            </a:avLst>
          </a:prstGeom>
          <a:solidFill>
            <a:srgbClr val="DCE6F5"/>
          </a:solidFill>
          <a:ln w="15875">
            <a:solidFill>
              <a:srgbClr val="1F3864"/>
            </a:solidFill>
            <a:prstDash val="solid"/>
          </a:ln>
        </p:spPr>
      </p:sp>
      <p:sp>
        <p:nvSpPr>
          <p:cNvPr id="7" name="Asset card 1 text"/>
          <p:cNvSpPr txBox="1"/>
          <p:nvPr/>
        </p:nvSpPr>
        <p:spPr>
          <a:xfrm>
            <a:off x="6949440" y="1920240"/>
            <a:ext cx="4572000" cy="896112"/>
          </a:xfrm>
          <a:prstGeom prst="rect">
            <a:avLst/>
          </a:prstGeom>
          <a:noFill/>
        </p:spPr>
        <p:txBody>
          <a:bodyPr wrap="square" lIns="635" tIns="635" rIns="635" bIns="635" rtlCol="0" anchor="t"/>
          <a:lstStyle/>
          <a:p>
            <a:pPr marL="0" indent="0">
              <a:spcAft>
                <a:spcPts val="400"/>
              </a:spcAft>
              <a:buNone/>
            </a:pPr>
            <a:r>
              <a:rPr lang="en-US" sz="24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Data</a:t>
            </a:r>
            <a:endParaRPr lang="en-US" sz="2400" dirty="0"/>
          </a:p>
          <a:p>
            <a:pPr marL="0" indent="0">
              <a:spcAft>
                <a:spcPts val="400"/>
              </a:spcAft>
              <a:buNone/>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Marks, photos, payment details</a:t>
            </a:r>
            <a:endParaRPr lang="en-US" sz="2400" dirty="0"/>
          </a:p>
        </p:txBody>
      </p:sp>
      <p:sp>
        <p:nvSpPr>
          <p:cNvPr id="8" name="Asset card 2"/>
          <p:cNvSpPr/>
          <p:nvPr/>
        </p:nvSpPr>
        <p:spPr>
          <a:xfrm>
            <a:off x="6858000" y="2971800"/>
            <a:ext cx="4754880" cy="987552"/>
          </a:xfrm>
          <a:prstGeom prst="roundRect">
            <a:avLst>
              <a:gd name="adj" fmla="val 9259"/>
            </a:avLst>
          </a:prstGeom>
          <a:solidFill>
            <a:srgbClr val="E2EFDA"/>
          </a:solidFill>
          <a:ln w="15875">
            <a:solidFill>
              <a:srgbClr val="1F3864"/>
            </a:solidFill>
            <a:prstDash val="solid"/>
          </a:ln>
        </p:spPr>
      </p:sp>
      <p:sp>
        <p:nvSpPr>
          <p:cNvPr id="9" name="Asset card 2 text"/>
          <p:cNvSpPr txBox="1"/>
          <p:nvPr/>
        </p:nvSpPr>
        <p:spPr>
          <a:xfrm>
            <a:off x="6949440" y="3017520"/>
            <a:ext cx="4572000" cy="896112"/>
          </a:xfrm>
          <a:prstGeom prst="rect">
            <a:avLst/>
          </a:prstGeom>
          <a:noFill/>
        </p:spPr>
        <p:txBody>
          <a:bodyPr wrap="square" lIns="635" tIns="635" rIns="635" bIns="635" rtlCol="0" anchor="t"/>
          <a:lstStyle/>
          <a:p>
            <a:pPr marL="0" indent="0">
              <a:spcAft>
                <a:spcPts val="400"/>
              </a:spcAft>
              <a:buNone/>
            </a:pPr>
            <a:r>
              <a:rPr lang="en-US" sz="24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Devices</a:t>
            </a:r>
            <a:endParaRPr lang="en-US" sz="2400" dirty="0"/>
          </a:p>
          <a:p>
            <a:pPr marL="0" indent="0">
              <a:spcAft>
                <a:spcPts val="400"/>
              </a:spcAft>
              <a:buNone/>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Laptops, phones, servers</a:t>
            </a:r>
            <a:endParaRPr lang="en-US" sz="2400" dirty="0"/>
          </a:p>
        </p:txBody>
      </p:sp>
      <p:sp>
        <p:nvSpPr>
          <p:cNvPr id="10" name="Asset card 3"/>
          <p:cNvSpPr/>
          <p:nvPr/>
        </p:nvSpPr>
        <p:spPr>
          <a:xfrm>
            <a:off x="6858000" y="4069080"/>
            <a:ext cx="4754880" cy="987552"/>
          </a:xfrm>
          <a:prstGeom prst="roundRect">
            <a:avLst>
              <a:gd name="adj" fmla="val 9259"/>
            </a:avLst>
          </a:prstGeom>
          <a:solidFill>
            <a:srgbClr val="FFF2CC"/>
          </a:solidFill>
          <a:ln w="15875">
            <a:solidFill>
              <a:srgbClr val="1F3864"/>
            </a:solidFill>
            <a:prstDash val="solid"/>
          </a:ln>
        </p:spPr>
      </p:sp>
      <p:sp>
        <p:nvSpPr>
          <p:cNvPr id="11" name="Asset card 3 text"/>
          <p:cNvSpPr txBox="1"/>
          <p:nvPr/>
        </p:nvSpPr>
        <p:spPr>
          <a:xfrm>
            <a:off x="6949440" y="4114800"/>
            <a:ext cx="4572000" cy="896112"/>
          </a:xfrm>
          <a:prstGeom prst="rect">
            <a:avLst/>
          </a:prstGeom>
          <a:noFill/>
        </p:spPr>
        <p:txBody>
          <a:bodyPr wrap="square" lIns="635" tIns="635" rIns="635" bIns="635" rtlCol="0" anchor="t"/>
          <a:lstStyle/>
          <a:p>
            <a:pPr marL="0" indent="0">
              <a:spcAft>
                <a:spcPts val="400"/>
              </a:spcAft>
              <a:buNone/>
            </a:pPr>
            <a:r>
              <a:rPr lang="en-US" sz="24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Networks</a:t>
            </a:r>
            <a:endParaRPr lang="en-US" sz="2400" dirty="0"/>
          </a:p>
          <a:p>
            <a:pPr marL="0" indent="0">
              <a:spcAft>
                <a:spcPts val="400"/>
              </a:spcAft>
              <a:buNone/>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Wi-Fi, campus LAN, internet</a:t>
            </a:r>
            <a:endParaRPr lang="en-US" sz="2400" dirty="0"/>
          </a:p>
        </p:txBody>
      </p:sp>
      <p:sp>
        <p:nvSpPr>
          <p:cNvPr id="12" name="Asset card 4"/>
          <p:cNvSpPr/>
          <p:nvPr/>
        </p:nvSpPr>
        <p:spPr>
          <a:xfrm>
            <a:off x="6858000" y="5166360"/>
            <a:ext cx="4754880" cy="987552"/>
          </a:xfrm>
          <a:prstGeom prst="roundRect">
            <a:avLst>
              <a:gd name="adj" fmla="val 9259"/>
            </a:avLst>
          </a:prstGeom>
          <a:solidFill>
            <a:srgbClr val="F2F2F2"/>
          </a:solidFill>
          <a:ln w="15875">
            <a:solidFill>
              <a:srgbClr val="1F3864"/>
            </a:solidFill>
            <a:prstDash val="solid"/>
          </a:ln>
        </p:spPr>
      </p:sp>
      <p:sp>
        <p:nvSpPr>
          <p:cNvPr id="13" name="Asset card 4 text"/>
          <p:cNvSpPr txBox="1"/>
          <p:nvPr/>
        </p:nvSpPr>
        <p:spPr>
          <a:xfrm>
            <a:off x="6949440" y="5212080"/>
            <a:ext cx="4572000" cy="896112"/>
          </a:xfrm>
          <a:prstGeom prst="rect">
            <a:avLst/>
          </a:prstGeom>
          <a:noFill/>
        </p:spPr>
        <p:txBody>
          <a:bodyPr wrap="square" lIns="635" tIns="635" rIns="635" bIns="635" rtlCol="0" anchor="t"/>
          <a:lstStyle/>
          <a:p>
            <a:pPr marL="0" indent="0">
              <a:spcAft>
                <a:spcPts val="400"/>
              </a:spcAft>
              <a:buNone/>
            </a:pPr>
            <a:r>
              <a:rPr lang="en-US" sz="24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Services</a:t>
            </a:r>
            <a:endParaRPr lang="en-US" sz="2400" dirty="0"/>
          </a:p>
          <a:p>
            <a:pPr marL="0" indent="0">
              <a:spcAft>
                <a:spcPts val="400"/>
              </a:spcAft>
              <a:buNone/>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Websites, e-mail, online exams</a:t>
            </a:r>
            <a:endParaRPr lang="en-US" sz="2400" dirty="0"/>
          </a:p>
        </p:txBody>
      </p:sp>
      <p:sp>
        <p:nvSpPr>
          <p:cNvPr id="25" name="Slide Number Placeholder 0"/>
          <p:cNvSpPr>
            <a:spLocks noGrp="1"/>
          </p:cNvSpPr>
          <p:nvPr>
            <p:ph type="sldNum" sz="quarter" idx="4294967295"/>
          </p:nvPr>
        </p:nvSpPr>
        <p:spPr>
          <a:xfrm>
            <a:off x="10972800" y="6428232"/>
            <a:ext cx="822960" cy="320040"/>
          </a:xfrm>
          <a:prstGeom prst="rect">
            <a:avLst/>
          </a:prstGeom>
        </p:spPr>
        <p:txBody>
          <a:bodyPr/>
          <a:lstStyle>
            <a:lvl1pPr>
              <a:defRPr sz="1400">
                <a:solidFill>
                  <a:srgbClr val="000000"/>
                </a:solidFill>
                <a:latin typeface="Times New Roman" panose="02020603050405020304"/>
                <a:ea typeface="Times New Roman" panose="02020603050405020304"/>
                <a:cs typeface="Times New Roman" panose="02020603050405020304"/>
              </a:defRPr>
            </a:lvl1pPr>
          </a:lstStyle>
          <a:p>
            <a:pPr algn="r"/>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2" hasCustomPrompt="1"/>
          </p:nvPr>
        </p:nvSpPr>
        <p:spPr>
          <a:xfrm>
            <a:off x="1371600" y="274320"/>
            <a:ext cx="9418320" cy="914400"/>
          </a:xfrm>
          <a:prstGeom prst="rect">
            <a:avLst/>
          </a:prstGeom>
          <a:noFill/>
        </p:spPr>
        <p:txBody>
          <a:bodyPr wrap="square" lIns="0" tIns="0" rIns="0" bIns="0" rtlCol="0" anchor="ctr"/>
          <a:lstStyle/>
          <a:p>
            <a:pPr marL="0" indent="0" algn="ctr">
              <a:buNone/>
            </a:pPr>
            <a:r>
              <a:rPr lang="en-US" sz="32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Security Goals: The CIA Triad</a:t>
            </a:r>
            <a:endParaRPr lang="en-US" sz="3200" dirty="0"/>
          </a:p>
        </p:txBody>
      </p:sp>
      <p:sp>
        <p:nvSpPr>
          <p:cNvPr id="4" name="Triangle left"/>
          <p:cNvSpPr/>
          <p:nvPr/>
        </p:nvSpPr>
        <p:spPr>
          <a:xfrm flipH="1">
            <a:off x="1554480" y="2331720"/>
            <a:ext cx="1234440" cy="2423160"/>
          </a:xfrm>
          <a:prstGeom prst="line">
            <a:avLst/>
          </a:prstGeom>
          <a:noFill/>
          <a:ln w="25400">
            <a:solidFill>
              <a:srgbClr val="1F3864"/>
            </a:solidFill>
            <a:prstDash val="solid"/>
          </a:ln>
        </p:spPr>
      </p:sp>
      <p:sp>
        <p:nvSpPr>
          <p:cNvPr id="5" name="Triangle right"/>
          <p:cNvSpPr/>
          <p:nvPr/>
        </p:nvSpPr>
        <p:spPr>
          <a:xfrm>
            <a:off x="2788920" y="2331720"/>
            <a:ext cx="1234440" cy="2423160"/>
          </a:xfrm>
          <a:prstGeom prst="line">
            <a:avLst/>
          </a:prstGeom>
          <a:noFill/>
          <a:ln w="25400">
            <a:solidFill>
              <a:srgbClr val="1F3864"/>
            </a:solidFill>
            <a:prstDash val="solid"/>
          </a:ln>
        </p:spPr>
      </p:sp>
      <p:sp>
        <p:nvSpPr>
          <p:cNvPr id="6" name="Triangle base"/>
          <p:cNvSpPr/>
          <p:nvPr/>
        </p:nvSpPr>
        <p:spPr>
          <a:xfrm>
            <a:off x="2560320" y="5120640"/>
            <a:ext cx="548640" cy="0"/>
          </a:xfrm>
          <a:prstGeom prst="line">
            <a:avLst/>
          </a:prstGeom>
          <a:noFill/>
          <a:ln w="25400">
            <a:solidFill>
              <a:srgbClr val="1F3864"/>
            </a:solidFill>
            <a:prstDash val="solid"/>
          </a:ln>
        </p:spPr>
      </p:sp>
      <p:sp>
        <p:nvSpPr>
          <p:cNvPr id="7" name="Node Confidentiality"/>
          <p:cNvSpPr/>
          <p:nvPr/>
        </p:nvSpPr>
        <p:spPr>
          <a:xfrm>
            <a:off x="1417320" y="1645920"/>
            <a:ext cx="2743200" cy="731520"/>
          </a:xfrm>
          <a:prstGeom prst="roundRect">
            <a:avLst>
              <a:gd name="adj" fmla="val 12500"/>
            </a:avLst>
          </a:prstGeom>
          <a:solidFill>
            <a:srgbClr val="DCE6F5"/>
          </a:solidFill>
          <a:ln w="15875">
            <a:solidFill>
              <a:srgbClr val="1F3864"/>
            </a:solidFill>
            <a:prstDash val="solid"/>
          </a:ln>
        </p:spPr>
      </p:sp>
      <p:sp>
        <p:nvSpPr>
          <p:cNvPr id="8" name="Node text Confidentiality"/>
          <p:cNvSpPr txBox="1"/>
          <p:nvPr/>
        </p:nvSpPr>
        <p:spPr>
          <a:xfrm>
            <a:off x="1417320" y="1645920"/>
            <a:ext cx="2743200" cy="731520"/>
          </a:xfrm>
          <a:prstGeom prst="rect">
            <a:avLst/>
          </a:prstGeom>
          <a:noFill/>
        </p:spPr>
        <p:txBody>
          <a:bodyPr wrap="square" lIns="0" tIns="0" rIns="0" bIns="0" rtlCol="0" anchor="ctr"/>
          <a:lstStyle/>
          <a:p>
            <a:pPr marL="0" indent="0" algn="ctr">
              <a:buNone/>
            </a:pPr>
            <a:r>
              <a:rPr lang="en-US" sz="22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Confidentiality</a:t>
            </a:r>
            <a:endParaRPr lang="en-US" sz="2200" dirty="0"/>
          </a:p>
        </p:txBody>
      </p:sp>
      <p:sp>
        <p:nvSpPr>
          <p:cNvPr id="9" name="Node Integrity"/>
          <p:cNvSpPr/>
          <p:nvPr/>
        </p:nvSpPr>
        <p:spPr>
          <a:xfrm>
            <a:off x="548640" y="4754880"/>
            <a:ext cx="2103120" cy="731520"/>
          </a:xfrm>
          <a:prstGeom prst="roundRect">
            <a:avLst>
              <a:gd name="adj" fmla="val 12500"/>
            </a:avLst>
          </a:prstGeom>
          <a:solidFill>
            <a:srgbClr val="E2EFDA"/>
          </a:solidFill>
          <a:ln w="15875">
            <a:solidFill>
              <a:srgbClr val="1F3864"/>
            </a:solidFill>
            <a:prstDash val="solid"/>
          </a:ln>
        </p:spPr>
      </p:sp>
      <p:sp>
        <p:nvSpPr>
          <p:cNvPr id="10" name="Node text Integrity"/>
          <p:cNvSpPr txBox="1"/>
          <p:nvPr/>
        </p:nvSpPr>
        <p:spPr>
          <a:xfrm>
            <a:off x="548640" y="4754880"/>
            <a:ext cx="2103120" cy="731520"/>
          </a:xfrm>
          <a:prstGeom prst="rect">
            <a:avLst/>
          </a:prstGeom>
          <a:noFill/>
        </p:spPr>
        <p:txBody>
          <a:bodyPr wrap="square" lIns="0" tIns="0" rIns="0" bIns="0" rtlCol="0" anchor="ctr"/>
          <a:lstStyle/>
          <a:p>
            <a:pPr marL="0" indent="0" algn="ctr">
              <a:buNone/>
            </a:pPr>
            <a:r>
              <a:rPr lang="en-US" sz="22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Integrity</a:t>
            </a:r>
            <a:endParaRPr lang="en-US" sz="2200" dirty="0"/>
          </a:p>
        </p:txBody>
      </p:sp>
      <p:sp>
        <p:nvSpPr>
          <p:cNvPr id="11" name="Node Availability"/>
          <p:cNvSpPr/>
          <p:nvPr/>
        </p:nvSpPr>
        <p:spPr>
          <a:xfrm>
            <a:off x="2926080" y="4754880"/>
            <a:ext cx="2103120" cy="731520"/>
          </a:xfrm>
          <a:prstGeom prst="roundRect">
            <a:avLst>
              <a:gd name="adj" fmla="val 12500"/>
            </a:avLst>
          </a:prstGeom>
          <a:solidFill>
            <a:srgbClr val="FFF2CC"/>
          </a:solidFill>
          <a:ln w="15875">
            <a:solidFill>
              <a:srgbClr val="1F3864"/>
            </a:solidFill>
            <a:prstDash val="solid"/>
          </a:ln>
        </p:spPr>
      </p:sp>
      <p:sp>
        <p:nvSpPr>
          <p:cNvPr id="12" name="Node text Availability"/>
          <p:cNvSpPr txBox="1"/>
          <p:nvPr/>
        </p:nvSpPr>
        <p:spPr>
          <a:xfrm>
            <a:off x="2926080" y="4754880"/>
            <a:ext cx="2103120" cy="731520"/>
          </a:xfrm>
          <a:prstGeom prst="rect">
            <a:avLst/>
          </a:prstGeom>
          <a:noFill/>
        </p:spPr>
        <p:txBody>
          <a:bodyPr wrap="square" lIns="0" tIns="0" rIns="0" bIns="0" rtlCol="0" anchor="ctr"/>
          <a:lstStyle/>
          <a:p>
            <a:pPr marL="0" indent="0" algn="ctr">
              <a:buNone/>
            </a:pPr>
            <a:r>
              <a:rPr lang="en-US" sz="22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Availability</a:t>
            </a:r>
            <a:endParaRPr lang="en-US" sz="2200" dirty="0"/>
          </a:p>
        </p:txBody>
      </p:sp>
      <p:sp>
        <p:nvSpPr>
          <p:cNvPr id="13" name="Hub"/>
          <p:cNvSpPr/>
          <p:nvPr/>
        </p:nvSpPr>
        <p:spPr>
          <a:xfrm>
            <a:off x="2011680" y="3200400"/>
            <a:ext cx="1554480" cy="731520"/>
          </a:xfrm>
          <a:prstGeom prst="roundRect">
            <a:avLst>
              <a:gd name="adj" fmla="val 12500"/>
            </a:avLst>
          </a:prstGeom>
          <a:solidFill>
            <a:srgbClr val="FFFFFF"/>
          </a:solidFill>
          <a:ln w="15875">
            <a:solidFill>
              <a:srgbClr val="1F3864"/>
            </a:solidFill>
            <a:prstDash val="solid"/>
          </a:ln>
        </p:spPr>
      </p:sp>
      <p:sp>
        <p:nvSpPr>
          <p:cNvPr id="14" name="Hub text"/>
          <p:cNvSpPr txBox="1"/>
          <p:nvPr/>
        </p:nvSpPr>
        <p:spPr>
          <a:xfrm>
            <a:off x="2011680" y="3200400"/>
            <a:ext cx="1554480" cy="731520"/>
          </a:xfrm>
          <a:prstGeom prst="rect">
            <a:avLst/>
          </a:prstGeom>
          <a:noFill/>
        </p:spPr>
        <p:txBody>
          <a:bodyPr wrap="square" lIns="0" tIns="0" rIns="0" bIns="0" rtlCol="0" anchor="ctr"/>
          <a:lstStyle/>
          <a:p>
            <a:pPr marL="0" indent="0" algn="ctr">
              <a:buNone/>
            </a:pPr>
            <a:r>
              <a:rPr lang="en-US" sz="22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CIA Triad</a:t>
            </a:r>
            <a:endParaRPr lang="en-US" sz="2200" dirty="0"/>
          </a:p>
        </p:txBody>
      </p:sp>
      <p:sp>
        <p:nvSpPr>
          <p:cNvPr id="15" name="Goal card Confidentiality"/>
          <p:cNvSpPr/>
          <p:nvPr/>
        </p:nvSpPr>
        <p:spPr>
          <a:xfrm>
            <a:off x="5486400" y="1600200"/>
            <a:ext cx="6126480" cy="1417320"/>
          </a:xfrm>
          <a:prstGeom prst="roundRect">
            <a:avLst>
              <a:gd name="adj" fmla="val 6452"/>
            </a:avLst>
          </a:prstGeom>
          <a:solidFill>
            <a:srgbClr val="DCE6F5"/>
          </a:solidFill>
          <a:ln w="15875">
            <a:solidFill>
              <a:srgbClr val="1F3864"/>
            </a:solidFill>
            <a:prstDash val="solid"/>
          </a:ln>
        </p:spPr>
      </p:sp>
      <p:sp>
        <p:nvSpPr>
          <p:cNvPr id="16" name="Goal card Confidentiality text"/>
          <p:cNvSpPr txBox="1"/>
          <p:nvPr/>
        </p:nvSpPr>
        <p:spPr>
          <a:xfrm>
            <a:off x="5577840" y="1645920"/>
            <a:ext cx="5943600" cy="1325880"/>
          </a:xfrm>
          <a:prstGeom prst="rect">
            <a:avLst/>
          </a:prstGeom>
          <a:noFill/>
        </p:spPr>
        <p:txBody>
          <a:bodyPr wrap="square" lIns="635" tIns="635" rIns="635" bIns="635" rtlCol="0" anchor="t"/>
          <a:lstStyle/>
          <a:p>
            <a:pPr marL="0" indent="0">
              <a:spcAft>
                <a:spcPts val="400"/>
              </a:spcAft>
              <a:buNone/>
            </a:pPr>
            <a:r>
              <a:rPr lang="en-US" sz="24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Confidentiality</a:t>
            </a:r>
            <a:endParaRPr lang="en-US" sz="2400" dirty="0"/>
          </a:p>
          <a:p>
            <a:pPr marL="0" indent="0">
              <a:spcAft>
                <a:spcPts val="400"/>
              </a:spcAft>
              <a:buNone/>
            </a:pPr>
            <a:r>
              <a:rPr lang="en-US" sz="20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Only authorised people can read the data.</a:t>
            </a:r>
            <a:endParaRPr lang="en-US" sz="2400" dirty="0"/>
          </a:p>
          <a:p>
            <a:pPr marL="0" indent="0">
              <a:buNone/>
            </a:pPr>
            <a:r>
              <a:rPr lang="en-US" sz="20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Example: only you can see your exam marks.</a:t>
            </a:r>
            <a:endParaRPr lang="en-US" sz="2400" dirty="0"/>
          </a:p>
        </p:txBody>
      </p:sp>
      <p:sp>
        <p:nvSpPr>
          <p:cNvPr id="17" name="Goal card Integrity"/>
          <p:cNvSpPr/>
          <p:nvPr/>
        </p:nvSpPr>
        <p:spPr>
          <a:xfrm>
            <a:off x="5486400" y="3154680"/>
            <a:ext cx="6126480" cy="1417320"/>
          </a:xfrm>
          <a:prstGeom prst="roundRect">
            <a:avLst>
              <a:gd name="adj" fmla="val 6452"/>
            </a:avLst>
          </a:prstGeom>
          <a:solidFill>
            <a:srgbClr val="E2EFDA"/>
          </a:solidFill>
          <a:ln w="15875">
            <a:solidFill>
              <a:srgbClr val="1F3864"/>
            </a:solidFill>
            <a:prstDash val="solid"/>
          </a:ln>
        </p:spPr>
      </p:sp>
      <p:sp>
        <p:nvSpPr>
          <p:cNvPr id="18" name="Goal card Integrity text"/>
          <p:cNvSpPr txBox="1"/>
          <p:nvPr/>
        </p:nvSpPr>
        <p:spPr>
          <a:xfrm>
            <a:off x="5577840" y="3200400"/>
            <a:ext cx="5943600" cy="1325880"/>
          </a:xfrm>
          <a:prstGeom prst="rect">
            <a:avLst/>
          </a:prstGeom>
          <a:noFill/>
        </p:spPr>
        <p:txBody>
          <a:bodyPr wrap="square" lIns="635" tIns="635" rIns="635" bIns="635" rtlCol="0" anchor="t"/>
          <a:lstStyle/>
          <a:p>
            <a:pPr marL="0" indent="0">
              <a:spcAft>
                <a:spcPts val="400"/>
              </a:spcAft>
              <a:buNone/>
            </a:pPr>
            <a:r>
              <a:rPr lang="en-US" sz="24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Integrity</a:t>
            </a:r>
            <a:endParaRPr lang="en-US" sz="2400" dirty="0"/>
          </a:p>
          <a:p>
            <a:pPr marL="0" indent="0">
              <a:spcAft>
                <a:spcPts val="400"/>
              </a:spcAft>
              <a:buNone/>
            </a:pPr>
            <a:r>
              <a:rPr lang="en-US" sz="20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Data stays correct and is not changed without permission.</a:t>
            </a:r>
            <a:endParaRPr lang="en-US" sz="2400" dirty="0"/>
          </a:p>
          <a:p>
            <a:pPr marL="0" indent="0">
              <a:buNone/>
            </a:pPr>
            <a:r>
              <a:rPr lang="en-US" sz="20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Example: nobody can edit your marks.</a:t>
            </a:r>
            <a:endParaRPr lang="en-US" sz="2400" dirty="0"/>
          </a:p>
        </p:txBody>
      </p:sp>
      <p:sp>
        <p:nvSpPr>
          <p:cNvPr id="19" name="Goal card Availability"/>
          <p:cNvSpPr/>
          <p:nvPr/>
        </p:nvSpPr>
        <p:spPr>
          <a:xfrm>
            <a:off x="5486400" y="4709160"/>
            <a:ext cx="6126480" cy="1417320"/>
          </a:xfrm>
          <a:prstGeom prst="roundRect">
            <a:avLst>
              <a:gd name="adj" fmla="val 6452"/>
            </a:avLst>
          </a:prstGeom>
          <a:solidFill>
            <a:srgbClr val="FFF2CC"/>
          </a:solidFill>
          <a:ln w="15875">
            <a:solidFill>
              <a:srgbClr val="1F3864"/>
            </a:solidFill>
            <a:prstDash val="solid"/>
          </a:ln>
        </p:spPr>
      </p:sp>
      <p:sp>
        <p:nvSpPr>
          <p:cNvPr id="20" name="Goal card Availability text"/>
          <p:cNvSpPr txBox="1"/>
          <p:nvPr/>
        </p:nvSpPr>
        <p:spPr>
          <a:xfrm>
            <a:off x="5577840" y="4754880"/>
            <a:ext cx="5943600" cy="1325880"/>
          </a:xfrm>
          <a:prstGeom prst="rect">
            <a:avLst/>
          </a:prstGeom>
          <a:noFill/>
        </p:spPr>
        <p:txBody>
          <a:bodyPr wrap="square" lIns="635" tIns="635" rIns="635" bIns="635" rtlCol="0" anchor="t"/>
          <a:lstStyle/>
          <a:p>
            <a:pPr marL="0" indent="0">
              <a:spcAft>
                <a:spcPts val="400"/>
              </a:spcAft>
              <a:buNone/>
            </a:pPr>
            <a:r>
              <a:rPr lang="en-US" sz="24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Availability</a:t>
            </a:r>
            <a:endParaRPr lang="en-US" sz="2400" dirty="0"/>
          </a:p>
          <a:p>
            <a:pPr marL="0" indent="0">
              <a:spcAft>
                <a:spcPts val="400"/>
              </a:spcAft>
              <a:buNone/>
            </a:pPr>
            <a:r>
              <a:rPr lang="en-US" sz="20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Systems and data are usable whenever needed.</a:t>
            </a:r>
            <a:endParaRPr lang="en-US" sz="2400" dirty="0"/>
          </a:p>
          <a:p>
            <a:pPr marL="0" indent="0">
              <a:buNone/>
            </a:pPr>
            <a:r>
              <a:rPr lang="en-US" sz="20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Example: the results portal works on result day.</a:t>
            </a:r>
            <a:endParaRPr lang="en-US" sz="2400" dirty="0"/>
          </a:p>
        </p:txBody>
      </p:sp>
      <p:sp>
        <p:nvSpPr>
          <p:cNvPr id="25" name="Slide Number Placeholder 0"/>
          <p:cNvSpPr>
            <a:spLocks noGrp="1"/>
          </p:cNvSpPr>
          <p:nvPr>
            <p:ph type="sldNum" sz="quarter" idx="4294967295"/>
          </p:nvPr>
        </p:nvSpPr>
        <p:spPr>
          <a:xfrm>
            <a:off x="10972800" y="6428232"/>
            <a:ext cx="822960" cy="320040"/>
          </a:xfrm>
          <a:prstGeom prst="rect">
            <a:avLst/>
          </a:prstGeom>
        </p:spPr>
        <p:txBody>
          <a:bodyPr/>
          <a:lstStyle>
            <a:lvl1pPr>
              <a:defRPr sz="1400">
                <a:solidFill>
                  <a:srgbClr val="000000"/>
                </a:solidFill>
                <a:latin typeface="Times New Roman" panose="02020603050405020304"/>
                <a:ea typeface="Times New Roman" panose="02020603050405020304"/>
                <a:cs typeface="Times New Roman" panose="02020603050405020304"/>
              </a:defRPr>
            </a:lvl1pPr>
          </a:lstStyle>
          <a:p>
            <a:pPr algn="r"/>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2" hasCustomPrompt="1"/>
          </p:nvPr>
        </p:nvSpPr>
        <p:spPr>
          <a:xfrm>
            <a:off x="1371600" y="274320"/>
            <a:ext cx="9418320" cy="914400"/>
          </a:xfrm>
          <a:prstGeom prst="rect">
            <a:avLst/>
          </a:prstGeom>
          <a:noFill/>
        </p:spPr>
        <p:txBody>
          <a:bodyPr wrap="square" lIns="0" tIns="0" rIns="0" bIns="0" rtlCol="0" anchor="ctr"/>
          <a:lstStyle/>
          <a:p>
            <a:pPr marL="0" indent="0" algn="ctr">
              <a:buNone/>
            </a:pPr>
            <a:r>
              <a:rPr lang="en-US" sz="32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Security Threats</a:t>
            </a:r>
            <a:endParaRPr lang="en-US" sz="3200" dirty="0"/>
          </a:p>
        </p:txBody>
      </p:sp>
      <p:sp>
        <p:nvSpPr>
          <p:cNvPr id="4" name="Threat definition"/>
          <p:cNvSpPr/>
          <p:nvPr/>
        </p:nvSpPr>
        <p:spPr>
          <a:xfrm>
            <a:off x="548640" y="1508760"/>
            <a:ext cx="11064240" cy="960120"/>
          </a:xfrm>
          <a:prstGeom prst="roundRect">
            <a:avLst>
              <a:gd name="adj" fmla="val 9524"/>
            </a:avLst>
          </a:prstGeom>
          <a:solidFill>
            <a:srgbClr val="F2F2F2"/>
          </a:solidFill>
          <a:ln w="15875">
            <a:solidFill>
              <a:srgbClr val="1F3864"/>
            </a:solidFill>
            <a:prstDash val="solid"/>
          </a:ln>
        </p:spPr>
      </p:sp>
      <p:sp>
        <p:nvSpPr>
          <p:cNvPr id="5" name="Threat definition text"/>
          <p:cNvSpPr txBox="1"/>
          <p:nvPr/>
        </p:nvSpPr>
        <p:spPr>
          <a:xfrm>
            <a:off x="731520" y="1508760"/>
            <a:ext cx="10698480" cy="960120"/>
          </a:xfrm>
          <a:prstGeom prst="rect">
            <a:avLst/>
          </a:prstGeom>
          <a:noFill/>
        </p:spPr>
        <p:txBody>
          <a:bodyPr wrap="square" lIns="635" tIns="635" rIns="635" bIns="635" rtlCol="0" anchor="ctr"/>
          <a:lstStyle/>
          <a:p>
            <a:pPr marL="0" indent="0">
              <a:buNone/>
            </a:pPr>
            <a:r>
              <a:rPr lang="en-US" sz="22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Threat: </a:t>
            </a: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a possible danger that could harm an asset by exploiting a weakness. It has not caused damage yet.</a:t>
            </a:r>
            <a:endParaRPr lang="en-US" sz="2200" dirty="0"/>
          </a:p>
        </p:txBody>
      </p:sp>
      <p:sp>
        <p:nvSpPr>
          <p:cNvPr id="6" name="Threat card 1"/>
          <p:cNvSpPr/>
          <p:nvPr/>
        </p:nvSpPr>
        <p:spPr>
          <a:xfrm>
            <a:off x="548640" y="2697480"/>
            <a:ext cx="5394960" cy="1554480"/>
          </a:xfrm>
          <a:prstGeom prst="roundRect">
            <a:avLst>
              <a:gd name="adj" fmla="val 5882"/>
            </a:avLst>
          </a:prstGeom>
          <a:solidFill>
            <a:srgbClr val="DCE6F5"/>
          </a:solidFill>
          <a:ln w="15875">
            <a:solidFill>
              <a:srgbClr val="1F3864"/>
            </a:solidFill>
            <a:prstDash val="solid"/>
          </a:ln>
        </p:spPr>
      </p:sp>
      <p:sp>
        <p:nvSpPr>
          <p:cNvPr id="7" name="Threat card 1 text"/>
          <p:cNvSpPr txBox="1"/>
          <p:nvPr/>
        </p:nvSpPr>
        <p:spPr>
          <a:xfrm>
            <a:off x="640080" y="2743200"/>
            <a:ext cx="5212080" cy="1463040"/>
          </a:xfrm>
          <a:prstGeom prst="rect">
            <a:avLst/>
          </a:prstGeom>
          <a:noFill/>
        </p:spPr>
        <p:txBody>
          <a:bodyPr wrap="square" lIns="635" tIns="635" rIns="635" bIns="635" rtlCol="0" anchor="t"/>
          <a:lstStyle/>
          <a:p>
            <a:pPr marL="0" indent="0">
              <a:spcAft>
                <a:spcPts val="400"/>
              </a:spcAft>
              <a:buNone/>
            </a:pPr>
            <a:r>
              <a:rPr lang="en-US" sz="24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Human threats</a:t>
            </a:r>
            <a:endParaRPr lang="en-US" sz="2400" dirty="0"/>
          </a:p>
          <a:p>
            <a:pPr marL="0" indent="0">
              <a:spcAft>
                <a:spcPts val="400"/>
              </a:spcAft>
              <a:buNone/>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Hackers, dishonest insiders, careless users</a:t>
            </a:r>
            <a:endParaRPr lang="en-US" sz="2400" dirty="0"/>
          </a:p>
        </p:txBody>
      </p:sp>
      <p:sp>
        <p:nvSpPr>
          <p:cNvPr id="8" name="Threat card 2"/>
          <p:cNvSpPr/>
          <p:nvPr/>
        </p:nvSpPr>
        <p:spPr>
          <a:xfrm>
            <a:off x="6217920" y="2697480"/>
            <a:ext cx="5394960" cy="1554480"/>
          </a:xfrm>
          <a:prstGeom prst="roundRect">
            <a:avLst>
              <a:gd name="adj" fmla="val 5882"/>
            </a:avLst>
          </a:prstGeom>
          <a:solidFill>
            <a:srgbClr val="E2EFDA"/>
          </a:solidFill>
          <a:ln w="15875">
            <a:solidFill>
              <a:srgbClr val="1F3864"/>
            </a:solidFill>
            <a:prstDash val="solid"/>
          </a:ln>
        </p:spPr>
      </p:sp>
      <p:sp>
        <p:nvSpPr>
          <p:cNvPr id="9" name="Threat card 2 text"/>
          <p:cNvSpPr txBox="1"/>
          <p:nvPr/>
        </p:nvSpPr>
        <p:spPr>
          <a:xfrm>
            <a:off x="6309360" y="2743200"/>
            <a:ext cx="5212080" cy="1463040"/>
          </a:xfrm>
          <a:prstGeom prst="rect">
            <a:avLst/>
          </a:prstGeom>
          <a:noFill/>
        </p:spPr>
        <p:txBody>
          <a:bodyPr wrap="square" lIns="635" tIns="635" rIns="635" bIns="635" rtlCol="0" anchor="t"/>
          <a:lstStyle/>
          <a:p>
            <a:pPr marL="0" indent="0">
              <a:spcAft>
                <a:spcPts val="400"/>
              </a:spcAft>
              <a:buNone/>
            </a:pPr>
            <a:r>
              <a:rPr lang="en-US" sz="24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Malicious software</a:t>
            </a:r>
            <a:endParaRPr lang="en-US" sz="2400" dirty="0"/>
          </a:p>
          <a:p>
            <a:pPr marL="0" indent="0">
              <a:spcAft>
                <a:spcPts val="400"/>
              </a:spcAft>
              <a:buNone/>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Viruses, worms, ransomware, spyware</a:t>
            </a:r>
            <a:endParaRPr lang="en-US" sz="2400" dirty="0"/>
          </a:p>
        </p:txBody>
      </p:sp>
      <p:sp>
        <p:nvSpPr>
          <p:cNvPr id="10" name="Threat card 3"/>
          <p:cNvSpPr/>
          <p:nvPr/>
        </p:nvSpPr>
        <p:spPr>
          <a:xfrm>
            <a:off x="548640" y="4389120"/>
            <a:ext cx="5394960" cy="1554480"/>
          </a:xfrm>
          <a:prstGeom prst="roundRect">
            <a:avLst>
              <a:gd name="adj" fmla="val 5882"/>
            </a:avLst>
          </a:prstGeom>
          <a:solidFill>
            <a:srgbClr val="FFF2CC"/>
          </a:solidFill>
          <a:ln w="15875">
            <a:solidFill>
              <a:srgbClr val="1F3864"/>
            </a:solidFill>
            <a:prstDash val="solid"/>
          </a:ln>
        </p:spPr>
      </p:sp>
      <p:sp>
        <p:nvSpPr>
          <p:cNvPr id="11" name="Threat card 3 text"/>
          <p:cNvSpPr txBox="1"/>
          <p:nvPr/>
        </p:nvSpPr>
        <p:spPr>
          <a:xfrm>
            <a:off x="640080" y="4434840"/>
            <a:ext cx="5212080" cy="1463040"/>
          </a:xfrm>
          <a:prstGeom prst="rect">
            <a:avLst/>
          </a:prstGeom>
          <a:noFill/>
        </p:spPr>
        <p:txBody>
          <a:bodyPr wrap="square" lIns="635" tIns="635" rIns="635" bIns="635" rtlCol="0" anchor="t"/>
          <a:lstStyle/>
          <a:p>
            <a:pPr marL="0" indent="0">
              <a:spcAft>
                <a:spcPts val="400"/>
              </a:spcAft>
              <a:buNone/>
            </a:pPr>
            <a:r>
              <a:rPr lang="en-US" sz="24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Natural and environmental</a:t>
            </a:r>
            <a:endParaRPr lang="en-US" sz="2400" dirty="0"/>
          </a:p>
          <a:p>
            <a:pPr marL="0" indent="0">
              <a:spcAft>
                <a:spcPts val="400"/>
              </a:spcAft>
              <a:buNone/>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Fire, flood, earthquake, power failure</a:t>
            </a:r>
            <a:endParaRPr lang="en-US" sz="2400" dirty="0"/>
          </a:p>
        </p:txBody>
      </p:sp>
      <p:sp>
        <p:nvSpPr>
          <p:cNvPr id="12" name="Threat card 4"/>
          <p:cNvSpPr/>
          <p:nvPr/>
        </p:nvSpPr>
        <p:spPr>
          <a:xfrm>
            <a:off x="6217920" y="4389120"/>
            <a:ext cx="5394960" cy="1554480"/>
          </a:xfrm>
          <a:prstGeom prst="roundRect">
            <a:avLst>
              <a:gd name="adj" fmla="val 5882"/>
            </a:avLst>
          </a:prstGeom>
          <a:solidFill>
            <a:srgbClr val="FBE0E0"/>
          </a:solidFill>
          <a:ln w="15875">
            <a:solidFill>
              <a:srgbClr val="1F3864"/>
            </a:solidFill>
            <a:prstDash val="solid"/>
          </a:ln>
        </p:spPr>
      </p:sp>
      <p:sp>
        <p:nvSpPr>
          <p:cNvPr id="13" name="Threat card 4 text"/>
          <p:cNvSpPr txBox="1"/>
          <p:nvPr/>
        </p:nvSpPr>
        <p:spPr>
          <a:xfrm>
            <a:off x="6309360" y="4434840"/>
            <a:ext cx="5212080" cy="1463040"/>
          </a:xfrm>
          <a:prstGeom prst="rect">
            <a:avLst/>
          </a:prstGeom>
          <a:noFill/>
        </p:spPr>
        <p:txBody>
          <a:bodyPr wrap="square" lIns="635" tIns="635" rIns="635" bIns="635" rtlCol="0" anchor="t"/>
          <a:lstStyle/>
          <a:p>
            <a:pPr marL="0" indent="0">
              <a:spcAft>
                <a:spcPts val="400"/>
              </a:spcAft>
              <a:buNone/>
            </a:pPr>
            <a:r>
              <a:rPr lang="en-US" sz="24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Technical failures</a:t>
            </a:r>
            <a:endParaRPr lang="en-US" sz="2400" dirty="0"/>
          </a:p>
          <a:p>
            <a:pPr marL="0" indent="0">
              <a:spcAft>
                <a:spcPts val="400"/>
              </a:spcAft>
              <a:buNone/>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Hardware crash, software bugs, network faults</a:t>
            </a:r>
            <a:endParaRPr lang="en-US" sz="2400" dirty="0"/>
          </a:p>
        </p:txBody>
      </p:sp>
      <p:sp>
        <p:nvSpPr>
          <p:cNvPr id="14" name="Threat caption"/>
          <p:cNvSpPr txBox="1"/>
          <p:nvPr/>
        </p:nvSpPr>
        <p:spPr>
          <a:xfrm>
            <a:off x="548640" y="6126480"/>
            <a:ext cx="10058400" cy="365760"/>
          </a:xfrm>
          <a:prstGeom prst="rect">
            <a:avLst/>
          </a:prstGeom>
          <a:noFill/>
        </p:spPr>
        <p:txBody>
          <a:bodyPr wrap="square" lIns="635" tIns="635" rIns="635" bIns="635" rtlCol="0" anchor="t"/>
          <a:lstStyle/>
          <a:p>
            <a:pPr marL="0" indent="0">
              <a:buNone/>
            </a:pPr>
            <a:r>
              <a:rPr lang="en-US" sz="18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Threats may be intentional (attackers) or accidental (mistakes and failures).</a:t>
            </a:r>
            <a:endParaRPr lang="en-US" sz="1800" dirty="0"/>
          </a:p>
        </p:txBody>
      </p:sp>
      <p:sp>
        <p:nvSpPr>
          <p:cNvPr id="25" name="Slide Number Placeholder 0"/>
          <p:cNvSpPr>
            <a:spLocks noGrp="1"/>
          </p:cNvSpPr>
          <p:nvPr>
            <p:ph type="sldNum" sz="quarter" idx="4294967295"/>
          </p:nvPr>
        </p:nvSpPr>
        <p:spPr>
          <a:xfrm>
            <a:off x="10972800" y="6428232"/>
            <a:ext cx="822960" cy="320040"/>
          </a:xfrm>
          <a:prstGeom prst="rect">
            <a:avLst/>
          </a:prstGeom>
        </p:spPr>
        <p:txBody>
          <a:bodyPr/>
          <a:lstStyle>
            <a:lvl1pPr>
              <a:defRPr sz="1400">
                <a:solidFill>
                  <a:srgbClr val="000000"/>
                </a:solidFill>
                <a:latin typeface="Times New Roman" panose="02020603050405020304"/>
                <a:ea typeface="Times New Roman" panose="02020603050405020304"/>
                <a:cs typeface="Times New Roman" panose="02020603050405020304"/>
              </a:defRPr>
            </a:lvl1pPr>
          </a:lstStyle>
          <a:p>
            <a:pPr algn="r"/>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2" hasCustomPrompt="1"/>
          </p:nvPr>
        </p:nvSpPr>
        <p:spPr>
          <a:xfrm>
            <a:off x="1371600" y="274320"/>
            <a:ext cx="9418320" cy="914400"/>
          </a:xfrm>
          <a:prstGeom prst="rect">
            <a:avLst/>
          </a:prstGeom>
          <a:noFill/>
        </p:spPr>
        <p:txBody>
          <a:bodyPr wrap="square" lIns="0" tIns="0" rIns="0" bIns="0" rtlCol="0" anchor="ctr"/>
          <a:lstStyle/>
          <a:p>
            <a:pPr marL="0" indent="0" algn="ctr">
              <a:buNone/>
            </a:pPr>
            <a:r>
              <a:rPr lang="en-US" sz="32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Security Attacks</a:t>
            </a:r>
            <a:endParaRPr lang="en-US" sz="3200" dirty="0"/>
          </a:p>
        </p:txBody>
      </p:sp>
      <p:sp>
        <p:nvSpPr>
          <p:cNvPr id="4" name="Attack definition"/>
          <p:cNvSpPr/>
          <p:nvPr/>
        </p:nvSpPr>
        <p:spPr>
          <a:xfrm>
            <a:off x="548640" y="1508760"/>
            <a:ext cx="11064240" cy="822960"/>
          </a:xfrm>
          <a:prstGeom prst="roundRect">
            <a:avLst>
              <a:gd name="adj" fmla="val 11111"/>
            </a:avLst>
          </a:prstGeom>
          <a:solidFill>
            <a:srgbClr val="F2F2F2"/>
          </a:solidFill>
          <a:ln w="15875">
            <a:solidFill>
              <a:srgbClr val="1F3864"/>
            </a:solidFill>
            <a:prstDash val="solid"/>
          </a:ln>
        </p:spPr>
      </p:sp>
      <p:sp>
        <p:nvSpPr>
          <p:cNvPr id="5" name="Attack definition text"/>
          <p:cNvSpPr txBox="1"/>
          <p:nvPr/>
        </p:nvSpPr>
        <p:spPr>
          <a:xfrm>
            <a:off x="731520" y="1508760"/>
            <a:ext cx="10698480" cy="822960"/>
          </a:xfrm>
          <a:prstGeom prst="rect">
            <a:avLst/>
          </a:prstGeom>
          <a:noFill/>
        </p:spPr>
        <p:txBody>
          <a:bodyPr wrap="square" lIns="635" tIns="635" rIns="635" bIns="635" rtlCol="0" anchor="ctr"/>
          <a:lstStyle/>
          <a:p>
            <a:pPr marL="0" indent="0">
              <a:buNone/>
            </a:pPr>
            <a:r>
              <a:rPr lang="en-US" sz="22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Attack: </a:t>
            </a: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an actual attempt to steal, change, damage or block a system or its data.</a:t>
            </a:r>
            <a:endParaRPr lang="en-US" sz="2200" dirty="0"/>
          </a:p>
        </p:txBody>
      </p:sp>
      <p:sp>
        <p:nvSpPr>
          <p:cNvPr id="6" name="Passive card"/>
          <p:cNvSpPr/>
          <p:nvPr/>
        </p:nvSpPr>
        <p:spPr>
          <a:xfrm>
            <a:off x="548640" y="2514600"/>
            <a:ext cx="5394960" cy="2880360"/>
          </a:xfrm>
          <a:prstGeom prst="roundRect">
            <a:avLst>
              <a:gd name="adj" fmla="val 3175"/>
            </a:avLst>
          </a:prstGeom>
          <a:solidFill>
            <a:srgbClr val="DCE6F5"/>
          </a:solidFill>
          <a:ln w="15875">
            <a:solidFill>
              <a:srgbClr val="1F3864"/>
            </a:solidFill>
            <a:prstDash val="solid"/>
          </a:ln>
        </p:spPr>
      </p:sp>
      <p:sp>
        <p:nvSpPr>
          <p:cNvPr id="7" name="Passive card text"/>
          <p:cNvSpPr txBox="1"/>
          <p:nvPr/>
        </p:nvSpPr>
        <p:spPr>
          <a:xfrm>
            <a:off x="640080" y="2560320"/>
            <a:ext cx="5212080" cy="2788920"/>
          </a:xfrm>
          <a:prstGeom prst="rect">
            <a:avLst/>
          </a:prstGeom>
          <a:noFill/>
        </p:spPr>
        <p:txBody>
          <a:bodyPr wrap="square" lIns="635" tIns="635" rIns="635" bIns="635" rtlCol="0" anchor="t"/>
          <a:lstStyle/>
          <a:p>
            <a:pPr marL="0" indent="0">
              <a:spcAft>
                <a:spcPts val="400"/>
              </a:spcAft>
              <a:buNone/>
            </a:pPr>
            <a:r>
              <a:rPr lang="en-US" sz="24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Passive attacks</a:t>
            </a:r>
            <a:endParaRPr lang="en-US" sz="2400" dirty="0"/>
          </a:p>
          <a:p>
            <a:pPr marL="342900" indent="-342900">
              <a:spcAft>
                <a:spcPts val="600"/>
              </a:spcAft>
              <a:buSzPct val="100000"/>
              <a:buChar char="•"/>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Only watch or copy data</a:t>
            </a:r>
            <a:endParaRPr lang="en-US" sz="2400" dirty="0"/>
          </a:p>
          <a:p>
            <a:pPr marL="342900" indent="-342900">
              <a:spcAft>
                <a:spcPts val="600"/>
              </a:spcAft>
              <a:buSzPct val="100000"/>
              <a:buChar char="•"/>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Examples: eavesdropping, traffic analysis</a:t>
            </a:r>
            <a:endParaRPr lang="en-US" sz="2400" dirty="0"/>
          </a:p>
          <a:p>
            <a:pPr marL="342900" indent="-342900">
              <a:spcAft>
                <a:spcPts val="600"/>
              </a:spcAft>
              <a:buSzPct val="100000"/>
              <a:buChar char="•"/>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Hard to detect: nothing is changed</a:t>
            </a:r>
            <a:endParaRPr lang="en-US" sz="2400" dirty="0"/>
          </a:p>
          <a:p>
            <a:pPr marL="342900" indent="-342900">
              <a:spcAft>
                <a:spcPts val="600"/>
              </a:spcAft>
              <a:buSzPct val="100000"/>
              <a:buChar char="•"/>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Mainly threaten Confidentiality</a:t>
            </a:r>
            <a:endParaRPr lang="en-US" sz="2400" dirty="0"/>
          </a:p>
        </p:txBody>
      </p:sp>
      <p:sp>
        <p:nvSpPr>
          <p:cNvPr id="8" name="Active card"/>
          <p:cNvSpPr/>
          <p:nvPr/>
        </p:nvSpPr>
        <p:spPr>
          <a:xfrm>
            <a:off x="6217920" y="2514600"/>
            <a:ext cx="5394960" cy="2880360"/>
          </a:xfrm>
          <a:prstGeom prst="roundRect">
            <a:avLst>
              <a:gd name="adj" fmla="val 3175"/>
            </a:avLst>
          </a:prstGeom>
          <a:solidFill>
            <a:srgbClr val="FBE0E0"/>
          </a:solidFill>
          <a:ln w="15875">
            <a:solidFill>
              <a:srgbClr val="1F3864"/>
            </a:solidFill>
            <a:prstDash val="solid"/>
          </a:ln>
        </p:spPr>
      </p:sp>
      <p:sp>
        <p:nvSpPr>
          <p:cNvPr id="9" name="Active card text"/>
          <p:cNvSpPr txBox="1"/>
          <p:nvPr/>
        </p:nvSpPr>
        <p:spPr>
          <a:xfrm>
            <a:off x="6309360" y="2560320"/>
            <a:ext cx="5212080" cy="2788920"/>
          </a:xfrm>
          <a:prstGeom prst="rect">
            <a:avLst/>
          </a:prstGeom>
          <a:noFill/>
        </p:spPr>
        <p:txBody>
          <a:bodyPr wrap="square" lIns="635" tIns="635" rIns="635" bIns="635" rtlCol="0" anchor="t"/>
          <a:lstStyle/>
          <a:p>
            <a:pPr marL="0" indent="0">
              <a:spcAft>
                <a:spcPts val="400"/>
              </a:spcAft>
              <a:buNone/>
            </a:pPr>
            <a:r>
              <a:rPr lang="en-US" sz="24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Active attacks</a:t>
            </a:r>
            <a:endParaRPr lang="en-US" sz="2400" dirty="0"/>
          </a:p>
          <a:p>
            <a:pPr marL="342900" indent="-342900">
              <a:spcAft>
                <a:spcPts val="600"/>
              </a:spcAft>
              <a:buSzPct val="100000"/>
              <a:buChar char="•"/>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Change data or disrupt service</a:t>
            </a:r>
            <a:endParaRPr lang="en-US" sz="2400" dirty="0"/>
          </a:p>
          <a:p>
            <a:pPr marL="342900" indent="-342900">
              <a:spcAft>
                <a:spcPts val="600"/>
              </a:spcAft>
              <a:buSzPct val="100000"/>
              <a:buChar char="•"/>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Examples: masquerade, replay, modification, denial of service</a:t>
            </a:r>
            <a:endParaRPr lang="en-US" sz="2400" dirty="0"/>
          </a:p>
          <a:p>
            <a:pPr marL="342900" indent="-342900">
              <a:spcAft>
                <a:spcPts val="600"/>
              </a:spcAft>
              <a:buSzPct val="100000"/>
              <a:buChar char="•"/>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Easier to detect, harder to prevent</a:t>
            </a:r>
            <a:endParaRPr lang="en-US" sz="2400" dirty="0"/>
          </a:p>
          <a:p>
            <a:pPr marL="342900" indent="-342900">
              <a:spcAft>
                <a:spcPts val="600"/>
              </a:spcAft>
              <a:buSzPct val="100000"/>
              <a:buChar char="•"/>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Threaten Integrity and Availability</a:t>
            </a:r>
            <a:endParaRPr lang="en-US" sz="2400" dirty="0"/>
          </a:p>
        </p:txBody>
      </p:sp>
      <p:sp>
        <p:nvSpPr>
          <p:cNvPr id="10" name="Flow 1"/>
          <p:cNvSpPr/>
          <p:nvPr/>
        </p:nvSpPr>
        <p:spPr>
          <a:xfrm>
            <a:off x="548640" y="5623560"/>
            <a:ext cx="2468880" cy="640080"/>
          </a:xfrm>
          <a:prstGeom prst="roundRect">
            <a:avLst>
              <a:gd name="adj" fmla="val 14286"/>
            </a:avLst>
          </a:prstGeom>
          <a:solidFill>
            <a:srgbClr val="FFFFFF"/>
          </a:solidFill>
          <a:ln w="15875">
            <a:solidFill>
              <a:srgbClr val="1F3864"/>
            </a:solidFill>
            <a:prstDash val="solid"/>
          </a:ln>
        </p:spPr>
      </p:sp>
      <p:sp>
        <p:nvSpPr>
          <p:cNvPr id="11" name="Flow text 1"/>
          <p:cNvSpPr txBox="1"/>
          <p:nvPr/>
        </p:nvSpPr>
        <p:spPr>
          <a:xfrm>
            <a:off x="548640" y="5623560"/>
            <a:ext cx="2468880" cy="640080"/>
          </a:xfrm>
          <a:prstGeom prst="rect">
            <a:avLst/>
          </a:prstGeom>
          <a:noFill/>
        </p:spPr>
        <p:txBody>
          <a:bodyPr wrap="square" lIns="0" tIns="0" rIns="0" bIns="0" rtlCol="0" anchor="ctr"/>
          <a:lstStyle/>
          <a:p>
            <a:pPr marL="0" indent="0" algn="ctr">
              <a:buNone/>
            </a:pPr>
            <a:r>
              <a:rPr lang="en-US" sz="20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Attacker</a:t>
            </a:r>
            <a:endParaRPr lang="en-US" sz="2000" dirty="0"/>
          </a:p>
        </p:txBody>
      </p:sp>
      <p:sp>
        <p:nvSpPr>
          <p:cNvPr id="12" name="Flow arrow 1"/>
          <p:cNvSpPr txBox="1"/>
          <p:nvPr/>
        </p:nvSpPr>
        <p:spPr>
          <a:xfrm>
            <a:off x="3017520" y="5623560"/>
            <a:ext cx="365760" cy="640080"/>
          </a:xfrm>
          <a:prstGeom prst="rect">
            <a:avLst/>
          </a:prstGeom>
          <a:noFill/>
        </p:spPr>
        <p:txBody>
          <a:bodyPr wrap="square" lIns="0" tIns="0" rIns="0" bIns="0" rtlCol="0" anchor="ctr"/>
          <a:lstStyle/>
          <a:p>
            <a:pPr marL="0" indent="0" algn="ctr">
              <a:buNone/>
            </a:pPr>
            <a:r>
              <a:rPr lang="en-US" sz="24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2400" dirty="0"/>
          </a:p>
        </p:txBody>
      </p:sp>
      <p:sp>
        <p:nvSpPr>
          <p:cNvPr id="13" name="Flow 2"/>
          <p:cNvSpPr/>
          <p:nvPr/>
        </p:nvSpPr>
        <p:spPr>
          <a:xfrm>
            <a:off x="3383280" y="5623560"/>
            <a:ext cx="2468880" cy="640080"/>
          </a:xfrm>
          <a:prstGeom prst="roundRect">
            <a:avLst>
              <a:gd name="adj" fmla="val 14286"/>
            </a:avLst>
          </a:prstGeom>
          <a:solidFill>
            <a:srgbClr val="FFFFFF"/>
          </a:solidFill>
          <a:ln w="15875">
            <a:solidFill>
              <a:srgbClr val="1F3864"/>
            </a:solidFill>
            <a:prstDash val="solid"/>
          </a:ln>
        </p:spPr>
      </p:sp>
      <p:sp>
        <p:nvSpPr>
          <p:cNvPr id="14" name="Flow text 2"/>
          <p:cNvSpPr txBox="1"/>
          <p:nvPr/>
        </p:nvSpPr>
        <p:spPr>
          <a:xfrm>
            <a:off x="3383280" y="5623560"/>
            <a:ext cx="2468880" cy="640080"/>
          </a:xfrm>
          <a:prstGeom prst="rect">
            <a:avLst/>
          </a:prstGeom>
          <a:noFill/>
        </p:spPr>
        <p:txBody>
          <a:bodyPr wrap="square" lIns="0" tIns="0" rIns="0" bIns="0" rtlCol="0" anchor="ctr"/>
          <a:lstStyle/>
          <a:p>
            <a:pPr marL="0" indent="0" algn="ctr">
              <a:buNone/>
            </a:pPr>
            <a:r>
              <a:rPr lang="en-US" sz="20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Finds a weakness</a:t>
            </a:r>
            <a:endParaRPr lang="en-US" sz="2000" dirty="0"/>
          </a:p>
        </p:txBody>
      </p:sp>
      <p:sp>
        <p:nvSpPr>
          <p:cNvPr id="15" name="Flow arrow 2"/>
          <p:cNvSpPr txBox="1"/>
          <p:nvPr/>
        </p:nvSpPr>
        <p:spPr>
          <a:xfrm>
            <a:off x="5852160" y="5623560"/>
            <a:ext cx="365760" cy="640080"/>
          </a:xfrm>
          <a:prstGeom prst="rect">
            <a:avLst/>
          </a:prstGeom>
          <a:noFill/>
        </p:spPr>
        <p:txBody>
          <a:bodyPr wrap="square" lIns="0" tIns="0" rIns="0" bIns="0" rtlCol="0" anchor="ctr"/>
          <a:lstStyle/>
          <a:p>
            <a:pPr marL="0" indent="0" algn="ctr">
              <a:buNone/>
            </a:pPr>
            <a:r>
              <a:rPr lang="en-US" sz="24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2400" dirty="0"/>
          </a:p>
        </p:txBody>
      </p:sp>
      <p:sp>
        <p:nvSpPr>
          <p:cNvPr id="16" name="Flow 3"/>
          <p:cNvSpPr/>
          <p:nvPr/>
        </p:nvSpPr>
        <p:spPr>
          <a:xfrm>
            <a:off x="6217920" y="5623560"/>
            <a:ext cx="2468880" cy="640080"/>
          </a:xfrm>
          <a:prstGeom prst="roundRect">
            <a:avLst>
              <a:gd name="adj" fmla="val 14286"/>
            </a:avLst>
          </a:prstGeom>
          <a:solidFill>
            <a:srgbClr val="FFFFFF"/>
          </a:solidFill>
          <a:ln w="15875">
            <a:solidFill>
              <a:srgbClr val="1F3864"/>
            </a:solidFill>
            <a:prstDash val="solid"/>
          </a:ln>
        </p:spPr>
      </p:sp>
      <p:sp>
        <p:nvSpPr>
          <p:cNvPr id="17" name="Flow text 3"/>
          <p:cNvSpPr txBox="1"/>
          <p:nvPr/>
        </p:nvSpPr>
        <p:spPr>
          <a:xfrm>
            <a:off x="6217920" y="5623560"/>
            <a:ext cx="2468880" cy="640080"/>
          </a:xfrm>
          <a:prstGeom prst="rect">
            <a:avLst/>
          </a:prstGeom>
          <a:noFill/>
        </p:spPr>
        <p:txBody>
          <a:bodyPr wrap="square" lIns="0" tIns="0" rIns="0" bIns="0" rtlCol="0" anchor="ctr"/>
          <a:lstStyle/>
          <a:p>
            <a:pPr marL="0" indent="0" algn="ctr">
              <a:buNone/>
            </a:pPr>
            <a:r>
              <a:rPr lang="en-US" sz="20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Launches attack</a:t>
            </a:r>
            <a:endParaRPr lang="en-US" sz="2000" dirty="0"/>
          </a:p>
        </p:txBody>
      </p:sp>
      <p:sp>
        <p:nvSpPr>
          <p:cNvPr id="18" name="Flow arrow 3"/>
          <p:cNvSpPr txBox="1"/>
          <p:nvPr/>
        </p:nvSpPr>
        <p:spPr>
          <a:xfrm>
            <a:off x="8686800" y="5623560"/>
            <a:ext cx="365760" cy="640080"/>
          </a:xfrm>
          <a:prstGeom prst="rect">
            <a:avLst/>
          </a:prstGeom>
          <a:noFill/>
        </p:spPr>
        <p:txBody>
          <a:bodyPr wrap="square" lIns="0" tIns="0" rIns="0" bIns="0" rtlCol="0" anchor="ctr"/>
          <a:lstStyle/>
          <a:p>
            <a:pPr marL="0" indent="0" algn="ctr">
              <a:buNone/>
            </a:pPr>
            <a:r>
              <a:rPr lang="en-US" sz="24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2400" dirty="0"/>
          </a:p>
        </p:txBody>
      </p:sp>
      <p:sp>
        <p:nvSpPr>
          <p:cNvPr id="19" name="Flow 4"/>
          <p:cNvSpPr/>
          <p:nvPr/>
        </p:nvSpPr>
        <p:spPr>
          <a:xfrm>
            <a:off x="9052560" y="5623560"/>
            <a:ext cx="2468880" cy="640080"/>
          </a:xfrm>
          <a:prstGeom prst="roundRect">
            <a:avLst>
              <a:gd name="adj" fmla="val 14286"/>
            </a:avLst>
          </a:prstGeom>
          <a:solidFill>
            <a:srgbClr val="FFFFFF"/>
          </a:solidFill>
          <a:ln w="15875">
            <a:solidFill>
              <a:srgbClr val="1F3864"/>
            </a:solidFill>
            <a:prstDash val="solid"/>
          </a:ln>
        </p:spPr>
      </p:sp>
      <p:sp>
        <p:nvSpPr>
          <p:cNvPr id="20" name="Flow text 4"/>
          <p:cNvSpPr txBox="1"/>
          <p:nvPr/>
        </p:nvSpPr>
        <p:spPr>
          <a:xfrm>
            <a:off x="9052560" y="5623560"/>
            <a:ext cx="2468880" cy="640080"/>
          </a:xfrm>
          <a:prstGeom prst="rect">
            <a:avLst/>
          </a:prstGeom>
          <a:noFill/>
        </p:spPr>
        <p:txBody>
          <a:bodyPr wrap="square" lIns="0" tIns="0" rIns="0" bIns="0" rtlCol="0" anchor="ctr"/>
          <a:lstStyle/>
          <a:p>
            <a:pPr marL="0" indent="0" algn="ctr">
              <a:buNone/>
            </a:pPr>
            <a:r>
              <a:rPr lang="en-US" sz="20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Harms C, I or A</a:t>
            </a:r>
            <a:endParaRPr lang="en-US" sz="2000" dirty="0"/>
          </a:p>
        </p:txBody>
      </p:sp>
      <p:sp>
        <p:nvSpPr>
          <p:cNvPr id="25" name="Slide Number Placeholder 0"/>
          <p:cNvSpPr>
            <a:spLocks noGrp="1"/>
          </p:cNvSpPr>
          <p:nvPr>
            <p:ph type="sldNum" sz="quarter" idx="4294967295"/>
          </p:nvPr>
        </p:nvSpPr>
        <p:spPr>
          <a:xfrm>
            <a:off x="10972800" y="6428232"/>
            <a:ext cx="822960" cy="320040"/>
          </a:xfrm>
          <a:prstGeom prst="rect">
            <a:avLst/>
          </a:prstGeom>
        </p:spPr>
        <p:txBody>
          <a:bodyPr/>
          <a:lstStyle>
            <a:lvl1pPr>
              <a:defRPr sz="1400">
                <a:solidFill>
                  <a:srgbClr val="000000"/>
                </a:solidFill>
                <a:latin typeface="Times New Roman" panose="02020603050405020304"/>
                <a:ea typeface="Times New Roman" panose="02020603050405020304"/>
                <a:cs typeface="Times New Roman" panose="02020603050405020304"/>
              </a:defRPr>
            </a:lvl1pPr>
          </a:lstStyle>
          <a:p>
            <a:pPr algn="r"/>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2" hasCustomPrompt="1"/>
          </p:nvPr>
        </p:nvSpPr>
        <p:spPr>
          <a:xfrm>
            <a:off x="1371600" y="274320"/>
            <a:ext cx="9418320" cy="914400"/>
          </a:xfrm>
          <a:prstGeom prst="rect">
            <a:avLst/>
          </a:prstGeom>
          <a:noFill/>
        </p:spPr>
        <p:txBody>
          <a:bodyPr wrap="square" lIns="0" tIns="0" rIns="0" bIns="0" rtlCol="0" anchor="ctr"/>
          <a:lstStyle/>
          <a:p>
            <a:pPr marL="0" indent="0" algn="ctr">
              <a:buNone/>
            </a:pPr>
            <a:r>
              <a:rPr lang="en-US" sz="32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Risks and Vulnerabilities</a:t>
            </a:r>
            <a:endParaRPr lang="en-US" sz="3200" dirty="0"/>
          </a:p>
        </p:txBody>
      </p:sp>
      <p:sp>
        <p:nvSpPr>
          <p:cNvPr id="4" name="Concept Threat"/>
          <p:cNvSpPr/>
          <p:nvPr/>
        </p:nvSpPr>
        <p:spPr>
          <a:xfrm>
            <a:off x="548640" y="1508760"/>
            <a:ext cx="3291840" cy="1463040"/>
          </a:xfrm>
          <a:prstGeom prst="roundRect">
            <a:avLst>
              <a:gd name="adj" fmla="val 6250"/>
            </a:avLst>
          </a:prstGeom>
          <a:solidFill>
            <a:srgbClr val="DCE6F5"/>
          </a:solidFill>
          <a:ln w="15875">
            <a:solidFill>
              <a:srgbClr val="1F3864"/>
            </a:solidFill>
            <a:prstDash val="solid"/>
          </a:ln>
        </p:spPr>
      </p:sp>
      <p:sp>
        <p:nvSpPr>
          <p:cNvPr id="5" name="Concept Threat text"/>
          <p:cNvSpPr txBox="1"/>
          <p:nvPr/>
        </p:nvSpPr>
        <p:spPr>
          <a:xfrm>
            <a:off x="640080" y="1554480"/>
            <a:ext cx="3108960" cy="1371600"/>
          </a:xfrm>
          <a:prstGeom prst="rect">
            <a:avLst/>
          </a:prstGeom>
          <a:noFill/>
        </p:spPr>
        <p:txBody>
          <a:bodyPr wrap="square" lIns="635" tIns="635" rIns="635" bIns="635" rtlCol="0" anchor="t"/>
          <a:lstStyle/>
          <a:p>
            <a:pPr marL="0" indent="0">
              <a:spcAft>
                <a:spcPts val="400"/>
              </a:spcAft>
              <a:buNone/>
            </a:pPr>
            <a:r>
              <a:rPr lang="en-US" sz="24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Threat</a:t>
            </a:r>
            <a:endParaRPr lang="en-US" sz="2400" dirty="0"/>
          </a:p>
          <a:p>
            <a:pPr marL="0" indent="0">
              <a:spcAft>
                <a:spcPts val="400"/>
              </a:spcAft>
              <a:buNone/>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Something that can cause harm</a:t>
            </a:r>
            <a:endParaRPr lang="en-US" sz="2400" dirty="0"/>
          </a:p>
        </p:txBody>
      </p:sp>
      <p:sp>
        <p:nvSpPr>
          <p:cNvPr id="6" name="Plus sign"/>
          <p:cNvSpPr txBox="1"/>
          <p:nvPr/>
        </p:nvSpPr>
        <p:spPr>
          <a:xfrm>
            <a:off x="3840480" y="1508760"/>
            <a:ext cx="594360" cy="1463040"/>
          </a:xfrm>
          <a:prstGeom prst="rect">
            <a:avLst/>
          </a:prstGeom>
          <a:noFill/>
        </p:spPr>
        <p:txBody>
          <a:bodyPr wrap="square" lIns="0" tIns="0" rIns="0" bIns="0" rtlCol="0" anchor="ctr"/>
          <a:lstStyle/>
          <a:p>
            <a:pPr marL="0" indent="0" algn="ctr">
              <a:buNone/>
            </a:pPr>
            <a:r>
              <a:rPr lang="en-US" sz="36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3600" dirty="0"/>
          </a:p>
        </p:txBody>
      </p:sp>
      <p:sp>
        <p:nvSpPr>
          <p:cNvPr id="7" name="Concept Vulnerability"/>
          <p:cNvSpPr/>
          <p:nvPr/>
        </p:nvSpPr>
        <p:spPr>
          <a:xfrm>
            <a:off x="4434840" y="1508760"/>
            <a:ext cx="3291840" cy="1463040"/>
          </a:xfrm>
          <a:prstGeom prst="roundRect">
            <a:avLst>
              <a:gd name="adj" fmla="val 6250"/>
            </a:avLst>
          </a:prstGeom>
          <a:solidFill>
            <a:srgbClr val="FFF2CC"/>
          </a:solidFill>
          <a:ln w="15875">
            <a:solidFill>
              <a:srgbClr val="1F3864"/>
            </a:solidFill>
            <a:prstDash val="solid"/>
          </a:ln>
        </p:spPr>
      </p:sp>
      <p:sp>
        <p:nvSpPr>
          <p:cNvPr id="8" name="Concept Vulnerability text"/>
          <p:cNvSpPr txBox="1"/>
          <p:nvPr/>
        </p:nvSpPr>
        <p:spPr>
          <a:xfrm>
            <a:off x="4526280" y="1554480"/>
            <a:ext cx="3108960" cy="1371600"/>
          </a:xfrm>
          <a:prstGeom prst="rect">
            <a:avLst/>
          </a:prstGeom>
          <a:noFill/>
        </p:spPr>
        <p:txBody>
          <a:bodyPr wrap="square" lIns="635" tIns="635" rIns="635" bIns="635" rtlCol="0" anchor="t"/>
          <a:lstStyle/>
          <a:p>
            <a:pPr marL="0" indent="0">
              <a:spcAft>
                <a:spcPts val="400"/>
              </a:spcAft>
              <a:buNone/>
            </a:pPr>
            <a:r>
              <a:rPr lang="en-US" sz="24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Vulnerability</a:t>
            </a:r>
            <a:endParaRPr lang="en-US" sz="2400" dirty="0"/>
          </a:p>
          <a:p>
            <a:pPr marL="0" indent="0">
              <a:spcAft>
                <a:spcPts val="400"/>
              </a:spcAft>
              <a:buNone/>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A weakness that can be exploited</a:t>
            </a:r>
            <a:endParaRPr lang="en-US" sz="2400" dirty="0"/>
          </a:p>
        </p:txBody>
      </p:sp>
      <p:sp>
        <p:nvSpPr>
          <p:cNvPr id="9" name="Arrow sign"/>
          <p:cNvSpPr txBox="1"/>
          <p:nvPr/>
        </p:nvSpPr>
        <p:spPr>
          <a:xfrm>
            <a:off x="7726680" y="1508760"/>
            <a:ext cx="594360" cy="1463040"/>
          </a:xfrm>
          <a:prstGeom prst="rect">
            <a:avLst/>
          </a:prstGeom>
          <a:noFill/>
        </p:spPr>
        <p:txBody>
          <a:bodyPr wrap="square" lIns="0" tIns="0" rIns="0" bIns="0" rtlCol="0" anchor="ctr"/>
          <a:lstStyle/>
          <a:p>
            <a:pPr marL="0" indent="0" algn="ctr">
              <a:buNone/>
            </a:pPr>
            <a:r>
              <a:rPr lang="en-US" sz="36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3600" dirty="0"/>
          </a:p>
        </p:txBody>
      </p:sp>
      <p:sp>
        <p:nvSpPr>
          <p:cNvPr id="10" name="Concept Risk"/>
          <p:cNvSpPr/>
          <p:nvPr/>
        </p:nvSpPr>
        <p:spPr>
          <a:xfrm>
            <a:off x="8321040" y="1508760"/>
            <a:ext cx="3291840" cy="1463040"/>
          </a:xfrm>
          <a:prstGeom prst="roundRect">
            <a:avLst>
              <a:gd name="adj" fmla="val 6250"/>
            </a:avLst>
          </a:prstGeom>
          <a:solidFill>
            <a:srgbClr val="FBE0E0"/>
          </a:solidFill>
          <a:ln w="15875">
            <a:solidFill>
              <a:srgbClr val="1F3864"/>
            </a:solidFill>
            <a:prstDash val="solid"/>
          </a:ln>
        </p:spPr>
      </p:sp>
      <p:sp>
        <p:nvSpPr>
          <p:cNvPr id="11" name="Concept Risk text"/>
          <p:cNvSpPr txBox="1"/>
          <p:nvPr/>
        </p:nvSpPr>
        <p:spPr>
          <a:xfrm>
            <a:off x="8412480" y="1554480"/>
            <a:ext cx="3108960" cy="1371600"/>
          </a:xfrm>
          <a:prstGeom prst="rect">
            <a:avLst/>
          </a:prstGeom>
          <a:noFill/>
        </p:spPr>
        <p:txBody>
          <a:bodyPr wrap="square" lIns="635" tIns="635" rIns="635" bIns="635" rtlCol="0" anchor="t"/>
          <a:lstStyle/>
          <a:p>
            <a:pPr marL="0" indent="0">
              <a:spcAft>
                <a:spcPts val="400"/>
              </a:spcAft>
              <a:buNone/>
            </a:pPr>
            <a:r>
              <a:rPr lang="en-US" sz="24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Risk</a:t>
            </a:r>
            <a:endParaRPr lang="en-US" sz="2400" dirty="0"/>
          </a:p>
          <a:p>
            <a:pPr marL="0" indent="0">
              <a:spcAft>
                <a:spcPts val="400"/>
              </a:spcAft>
              <a:buNone/>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Chance of loss or damage</a:t>
            </a:r>
            <a:endParaRPr lang="en-US" sz="2400" dirty="0"/>
          </a:p>
        </p:txBody>
      </p:sp>
      <p:sp>
        <p:nvSpPr>
          <p:cNvPr id="12" name="Formula bar"/>
          <p:cNvSpPr/>
          <p:nvPr/>
        </p:nvSpPr>
        <p:spPr>
          <a:xfrm>
            <a:off x="548640" y="3154680"/>
            <a:ext cx="11064240" cy="640080"/>
          </a:xfrm>
          <a:prstGeom prst="roundRect">
            <a:avLst>
              <a:gd name="adj" fmla="val 14286"/>
            </a:avLst>
          </a:prstGeom>
          <a:solidFill>
            <a:srgbClr val="F2F2F2"/>
          </a:solidFill>
          <a:ln w="15875">
            <a:solidFill>
              <a:srgbClr val="1F3864"/>
            </a:solidFill>
            <a:prstDash val="solid"/>
          </a:ln>
        </p:spPr>
      </p:sp>
      <p:sp>
        <p:nvSpPr>
          <p:cNvPr id="13" name="Formula text"/>
          <p:cNvSpPr txBox="1"/>
          <p:nvPr/>
        </p:nvSpPr>
        <p:spPr>
          <a:xfrm>
            <a:off x="548640" y="3154680"/>
            <a:ext cx="11064240" cy="640080"/>
          </a:xfrm>
          <a:prstGeom prst="rect">
            <a:avLst/>
          </a:prstGeom>
          <a:noFill/>
        </p:spPr>
        <p:txBody>
          <a:bodyPr wrap="square" lIns="0" tIns="0" rIns="0" bIns="0" rtlCol="0" anchor="ctr"/>
          <a:lstStyle/>
          <a:p>
            <a:pPr marL="0" indent="0" algn="ctr">
              <a:buNone/>
            </a:pPr>
            <a:r>
              <a:rPr lang="en-US" sz="24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Risk = Likelihood × Impact</a:t>
            </a:r>
            <a:endParaRPr lang="en-US" sz="2400" dirty="0"/>
          </a:p>
        </p:txBody>
      </p:sp>
      <p:sp>
        <p:nvSpPr>
          <p:cNvPr id="14" name="Vulnerability list card"/>
          <p:cNvSpPr/>
          <p:nvPr/>
        </p:nvSpPr>
        <p:spPr>
          <a:xfrm>
            <a:off x="548640" y="4023360"/>
            <a:ext cx="5394960" cy="2286000"/>
          </a:xfrm>
          <a:prstGeom prst="roundRect">
            <a:avLst>
              <a:gd name="adj" fmla="val 4000"/>
            </a:avLst>
          </a:prstGeom>
          <a:solidFill>
            <a:srgbClr val="FFFFFF"/>
          </a:solidFill>
          <a:ln w="15875">
            <a:solidFill>
              <a:srgbClr val="1F3864"/>
            </a:solidFill>
            <a:prstDash val="solid"/>
          </a:ln>
        </p:spPr>
      </p:sp>
      <p:sp>
        <p:nvSpPr>
          <p:cNvPr id="15" name="Vulnerability list"/>
          <p:cNvSpPr txBox="1"/>
          <p:nvPr/>
        </p:nvSpPr>
        <p:spPr>
          <a:xfrm>
            <a:off x="640080" y="4069080"/>
            <a:ext cx="5212080" cy="2194560"/>
          </a:xfrm>
          <a:prstGeom prst="rect">
            <a:avLst/>
          </a:prstGeom>
          <a:noFill/>
        </p:spPr>
        <p:txBody>
          <a:bodyPr wrap="square" lIns="635" tIns="635" rIns="635" bIns="635" rtlCol="0" anchor="t"/>
          <a:lstStyle/>
          <a:p>
            <a:pPr marL="0" indent="0">
              <a:spcAft>
                <a:spcPts val="400"/>
              </a:spcAft>
              <a:buNone/>
            </a:pPr>
            <a:r>
              <a:rPr lang="en-US" sz="24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Common vulnerabilities</a:t>
            </a:r>
            <a:endParaRPr lang="en-US" sz="2400" dirty="0"/>
          </a:p>
          <a:p>
            <a:pPr marL="342900" indent="-342900">
              <a:spcAft>
                <a:spcPts val="600"/>
              </a:spcAft>
              <a:buSzPct val="100000"/>
              <a:buChar char="•"/>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Weak or reused passwords</a:t>
            </a:r>
            <a:endParaRPr lang="en-US" sz="2400" dirty="0"/>
          </a:p>
          <a:p>
            <a:pPr marL="342900" indent="-342900">
              <a:spcAft>
                <a:spcPts val="600"/>
              </a:spcAft>
              <a:buSzPct val="100000"/>
              <a:buChar char="•"/>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Outdated, unpatched software</a:t>
            </a:r>
            <a:endParaRPr lang="en-US" sz="2400" dirty="0"/>
          </a:p>
          <a:p>
            <a:pPr marL="342900" indent="-342900">
              <a:spcAft>
                <a:spcPts val="600"/>
              </a:spcAft>
              <a:buSzPct val="100000"/>
              <a:buChar char="•"/>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Unencrypted data and traffic</a:t>
            </a:r>
            <a:endParaRPr lang="en-US" sz="2400" dirty="0"/>
          </a:p>
          <a:p>
            <a:pPr marL="342900" indent="-342900">
              <a:spcAft>
                <a:spcPts val="600"/>
              </a:spcAft>
              <a:buSzPct val="100000"/>
              <a:buChar char="•"/>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Untrained, careless users</a:t>
            </a:r>
            <a:endParaRPr lang="en-US" sz="2400" dirty="0"/>
          </a:p>
        </p:txBody>
      </p:sp>
      <p:sp>
        <p:nvSpPr>
          <p:cNvPr id="16" name="Risk management card"/>
          <p:cNvSpPr/>
          <p:nvPr/>
        </p:nvSpPr>
        <p:spPr>
          <a:xfrm>
            <a:off x="6217920" y="4023360"/>
            <a:ext cx="5394960" cy="2286000"/>
          </a:xfrm>
          <a:prstGeom prst="roundRect">
            <a:avLst>
              <a:gd name="adj" fmla="val 4000"/>
            </a:avLst>
          </a:prstGeom>
          <a:solidFill>
            <a:srgbClr val="FFFFFF"/>
          </a:solidFill>
          <a:ln w="15875">
            <a:solidFill>
              <a:srgbClr val="1F3864"/>
            </a:solidFill>
            <a:prstDash val="solid"/>
          </a:ln>
        </p:spPr>
      </p:sp>
      <p:sp>
        <p:nvSpPr>
          <p:cNvPr id="17" name="Risk management list"/>
          <p:cNvSpPr txBox="1"/>
          <p:nvPr/>
        </p:nvSpPr>
        <p:spPr>
          <a:xfrm>
            <a:off x="6309360" y="4069080"/>
            <a:ext cx="5212080" cy="2194560"/>
          </a:xfrm>
          <a:prstGeom prst="rect">
            <a:avLst/>
          </a:prstGeom>
          <a:noFill/>
        </p:spPr>
        <p:txBody>
          <a:bodyPr wrap="square" lIns="635" tIns="635" rIns="635" bIns="635" rtlCol="0" anchor="t"/>
          <a:lstStyle/>
          <a:p>
            <a:pPr marL="0" indent="0">
              <a:spcAft>
                <a:spcPts val="400"/>
              </a:spcAft>
              <a:buNone/>
            </a:pPr>
            <a:r>
              <a:rPr lang="en-US" sz="24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Managing risk</a:t>
            </a:r>
            <a:endParaRPr lang="en-US" sz="2400" dirty="0"/>
          </a:p>
          <a:p>
            <a:pPr marL="0" indent="0">
              <a:spcAft>
                <a:spcPts val="600"/>
              </a:spcAft>
              <a:buNone/>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1. Identify assets and threats</a:t>
            </a:r>
            <a:endParaRPr lang="en-US" sz="2400" dirty="0"/>
          </a:p>
          <a:p>
            <a:pPr marL="0" indent="0">
              <a:spcAft>
                <a:spcPts val="600"/>
              </a:spcAft>
              <a:buNone/>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2. Assess likelihood and impact</a:t>
            </a:r>
            <a:endParaRPr lang="en-US" sz="2400" dirty="0"/>
          </a:p>
          <a:p>
            <a:pPr marL="0" indent="0">
              <a:spcAft>
                <a:spcPts val="600"/>
              </a:spcAft>
              <a:buNone/>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3. Reduce, accept, transfer or avoid</a:t>
            </a:r>
            <a:endParaRPr lang="en-US" sz="2400" dirty="0"/>
          </a:p>
          <a:p>
            <a:pPr marL="0" indent="0">
              <a:spcAft>
                <a:spcPts val="600"/>
              </a:spcAft>
              <a:buNone/>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4. Monitor and review</a:t>
            </a:r>
            <a:endParaRPr lang="en-US" sz="2400" dirty="0"/>
          </a:p>
        </p:txBody>
      </p:sp>
      <p:sp>
        <p:nvSpPr>
          <p:cNvPr id="25" name="Slide Number Placeholder 0"/>
          <p:cNvSpPr>
            <a:spLocks noGrp="1"/>
          </p:cNvSpPr>
          <p:nvPr>
            <p:ph type="sldNum" sz="quarter" idx="4294967295"/>
          </p:nvPr>
        </p:nvSpPr>
        <p:spPr>
          <a:xfrm>
            <a:off x="10972800" y="6428232"/>
            <a:ext cx="822960" cy="320040"/>
          </a:xfrm>
          <a:prstGeom prst="rect">
            <a:avLst/>
          </a:prstGeom>
        </p:spPr>
        <p:txBody>
          <a:bodyPr/>
          <a:lstStyle>
            <a:lvl1pPr>
              <a:defRPr sz="1400">
                <a:solidFill>
                  <a:srgbClr val="000000"/>
                </a:solidFill>
                <a:latin typeface="Times New Roman" panose="02020603050405020304"/>
                <a:ea typeface="Times New Roman" panose="02020603050405020304"/>
                <a:cs typeface="Times New Roman" panose="02020603050405020304"/>
              </a:defRPr>
            </a:lvl1pPr>
          </a:lstStyle>
          <a:p>
            <a:pPr algn="r"/>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2" hasCustomPrompt="1"/>
          </p:nvPr>
        </p:nvSpPr>
        <p:spPr>
          <a:xfrm>
            <a:off x="1371600" y="274320"/>
            <a:ext cx="9418320" cy="914400"/>
          </a:xfrm>
          <a:prstGeom prst="rect">
            <a:avLst/>
          </a:prstGeom>
          <a:noFill/>
        </p:spPr>
        <p:txBody>
          <a:bodyPr wrap="square" lIns="0" tIns="0" rIns="0" bIns="0" rtlCol="0" anchor="ctr"/>
          <a:lstStyle/>
          <a:p>
            <a:pPr marL="0" indent="0" algn="ctr">
              <a:buNone/>
            </a:pPr>
            <a:r>
              <a:rPr lang="en-US" sz="32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Types of Attacks</a:t>
            </a:r>
            <a:endParaRPr lang="en-US" sz="3200" dirty="0"/>
          </a:p>
        </p:txBody>
      </p:sp>
      <p:graphicFrame>
        <p:nvGraphicFramePr>
          <p:cNvPr id="8" name="Table 0"/>
          <p:cNvGraphicFramePr>
            <a:graphicFrameLocks noGrp="1"/>
          </p:cNvGraphicFramePr>
          <p:nvPr/>
        </p:nvGraphicFramePr>
        <p:xfrm>
          <a:off x="548640" y="1554480"/>
          <a:ext cx="11064240" cy="4389120"/>
        </p:xfrm>
        <a:graphic>
          <a:graphicData uri="http://schemas.openxmlformats.org/drawingml/2006/table">
            <a:tbl>
              <a:tblPr/>
              <a:tblGrid>
                <a:gridCol w="2651760"/>
                <a:gridCol w="4754880"/>
                <a:gridCol w="3657600"/>
              </a:tblGrid>
              <a:tr h="502920">
                <a:tc>
                  <a:txBody>
                    <a:bodyPr/>
                    <a:lstStyle/>
                    <a:p>
                      <a:pPr marL="0" indent="0" algn="l">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Attack</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DCE6F5"/>
                    </a:solidFill>
                  </a:tcPr>
                </a:tc>
                <a:tc>
                  <a:txBody>
                    <a:bodyPr/>
                    <a:lstStyle/>
                    <a:p>
                      <a:pPr marL="0" indent="0" algn="l">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How it works</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DCE6F5"/>
                    </a:solidFill>
                  </a:tcPr>
                </a:tc>
                <a:tc>
                  <a:txBody>
                    <a:bodyPr/>
                    <a:lstStyle/>
                    <a:p>
                      <a:pPr marL="0" indent="0" algn="l">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Example</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DCE6F5"/>
                    </a:solidFill>
                  </a:tcPr>
                </a:tc>
              </a:tr>
              <a:tr h="777240">
                <a:tc>
                  <a:txBody>
                    <a:bodyPr/>
                    <a:lstStyle/>
                    <a:p>
                      <a:pPr marL="0" indent="0" algn="l">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Phishing</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2F2F2"/>
                    </a:solidFill>
                  </a:tcPr>
                </a:tc>
                <a:tc>
                  <a:txBody>
                    <a:bodyPr/>
                    <a:lstStyle/>
                    <a:p>
                      <a:pPr marL="0" indent="0" algn="l">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Fake message tricks a user into sharing data or clicking a link</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c>
                  <a:txBody>
                    <a:bodyPr/>
                    <a:lstStyle/>
                    <a:p>
                      <a:pPr marL="0" indent="0" algn="l">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Fake “fee payment” e-mail asking for a login</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r>
              <a:tr h="777240">
                <a:tc>
                  <a:txBody>
                    <a:bodyPr/>
                    <a:lstStyle/>
                    <a:p>
                      <a:pPr marL="0" indent="0" algn="l">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Malware</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2F2F2"/>
                    </a:solidFill>
                  </a:tcPr>
                </a:tc>
                <a:tc>
                  <a:txBody>
                    <a:bodyPr/>
                    <a:lstStyle/>
                    <a:p>
                      <a:pPr marL="0" indent="0" algn="l">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Harmful software that steals, damages or locks data</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c>
                  <a:txBody>
                    <a:bodyPr/>
                    <a:lstStyle/>
                    <a:p>
                      <a:pPr marL="0" indent="0" algn="l">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Ransomware locks lab computers</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r>
              <a:tr h="777240">
                <a:tc>
                  <a:txBody>
                    <a:bodyPr/>
                    <a:lstStyle/>
                    <a:p>
                      <a:pPr marL="0" indent="0" algn="l">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Denial-of-Service (DoS)</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2F2F2"/>
                    </a:solidFill>
                  </a:tcPr>
                </a:tc>
                <a:tc>
                  <a:txBody>
                    <a:bodyPr/>
                    <a:lstStyle/>
                    <a:p>
                      <a:pPr marL="0" indent="0" algn="l">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Floods a server so genuine users cannot get service</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c>
                  <a:txBody>
                    <a:bodyPr/>
                    <a:lstStyle/>
                    <a:p>
                      <a:pPr marL="0" indent="0" algn="l">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Huge request flood makes a website unreachable</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r>
              <a:tr h="777240">
                <a:tc>
                  <a:txBody>
                    <a:bodyPr/>
                    <a:lstStyle/>
                    <a:p>
                      <a:pPr marL="0" indent="0" algn="l">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Password attacks</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2F2F2"/>
                    </a:solidFill>
                  </a:tcPr>
                </a:tc>
                <a:tc>
                  <a:txBody>
                    <a:bodyPr/>
                    <a:lstStyle/>
                    <a:p>
                      <a:pPr marL="0" indent="0" algn="l">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Guessing or stealing passwords (brute force, dictionary, stolen lists)</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c>
                  <a:txBody>
                    <a:bodyPr/>
                    <a:lstStyle/>
                    <a:p>
                      <a:pPr marL="0" indent="0" algn="l">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Trying common passwords on a student login</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r>
              <a:tr h="777240">
                <a:tc>
                  <a:txBody>
                    <a:bodyPr/>
                    <a:lstStyle/>
                    <a:p>
                      <a:pPr marL="0" indent="0" algn="l">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Man-in-the-Middle (MITM)</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2F2F2"/>
                    </a:solidFill>
                  </a:tcPr>
                </a:tc>
                <a:tc>
                  <a:txBody>
                    <a:bodyPr/>
                    <a:lstStyle/>
                    <a:p>
                      <a:pPr marL="0" indent="0" algn="l">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Attacker secretly sits between two parties and reads or alters messages</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c>
                  <a:txBody>
                    <a:bodyPr/>
                    <a:lstStyle/>
                    <a:p>
                      <a:pPr marL="0" indent="0" algn="l">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Fake public Wi-Fi hotspot</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r>
            </a:tbl>
          </a:graphicData>
        </a:graphic>
      </p:graphicFrame>
      <p:sp>
        <p:nvSpPr>
          <p:cNvPr id="5" name="Types caption"/>
          <p:cNvSpPr txBox="1"/>
          <p:nvPr/>
        </p:nvSpPr>
        <p:spPr>
          <a:xfrm>
            <a:off x="548640" y="6035040"/>
            <a:ext cx="10058400" cy="365760"/>
          </a:xfrm>
          <a:prstGeom prst="rect">
            <a:avLst/>
          </a:prstGeom>
          <a:noFill/>
        </p:spPr>
        <p:txBody>
          <a:bodyPr wrap="square" lIns="635" tIns="635" rIns="635" bIns="635" rtlCol="0" anchor="t"/>
          <a:lstStyle/>
          <a:p>
            <a:pPr marL="0" indent="0">
              <a:buNone/>
            </a:pPr>
            <a:r>
              <a:rPr lang="en-US" sz="18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Each attack mainly targets a different security goal (see slide 9).</a:t>
            </a:r>
            <a:endParaRPr lang="en-US" sz="1800" dirty="0"/>
          </a:p>
        </p:txBody>
      </p:sp>
      <p:sp>
        <p:nvSpPr>
          <p:cNvPr id="25" name="Slide Number Placeholder 0"/>
          <p:cNvSpPr>
            <a:spLocks noGrp="1"/>
          </p:cNvSpPr>
          <p:nvPr>
            <p:ph type="sldNum" sz="quarter" idx="4294967295"/>
          </p:nvPr>
        </p:nvSpPr>
        <p:spPr>
          <a:xfrm>
            <a:off x="10972800" y="6428232"/>
            <a:ext cx="822960" cy="320040"/>
          </a:xfrm>
          <a:prstGeom prst="rect">
            <a:avLst/>
          </a:prstGeom>
        </p:spPr>
        <p:txBody>
          <a:bodyPr/>
          <a:lstStyle>
            <a:lvl1pPr>
              <a:defRPr sz="1400">
                <a:solidFill>
                  <a:srgbClr val="000000"/>
                </a:solidFill>
                <a:latin typeface="Times New Roman" panose="02020603050405020304"/>
                <a:ea typeface="Times New Roman" panose="02020603050405020304"/>
                <a:cs typeface="Times New Roman" panose="02020603050405020304"/>
              </a:defRPr>
            </a:lvl1pPr>
          </a:lstStyle>
          <a:p>
            <a:pPr algn="r"/>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2" hasCustomPrompt="1"/>
          </p:nvPr>
        </p:nvSpPr>
        <p:spPr>
          <a:xfrm>
            <a:off x="1371600" y="274320"/>
            <a:ext cx="9418320" cy="914400"/>
          </a:xfrm>
          <a:prstGeom prst="rect">
            <a:avLst/>
          </a:prstGeom>
          <a:noFill/>
        </p:spPr>
        <p:txBody>
          <a:bodyPr wrap="square" lIns="0" tIns="0" rIns="0" bIns="0" rtlCol="0" anchor="ctr"/>
          <a:lstStyle/>
          <a:p>
            <a:pPr marL="0" indent="0" algn="ctr">
              <a:buNone/>
            </a:pPr>
            <a:r>
              <a:rPr lang="en-US" sz="32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Threats vs Attacks vs Risks</a:t>
            </a:r>
            <a:endParaRPr lang="en-US" sz="3200" dirty="0"/>
          </a:p>
        </p:txBody>
      </p:sp>
      <p:graphicFrame>
        <p:nvGraphicFramePr>
          <p:cNvPr id="9" name="Table 0"/>
          <p:cNvGraphicFramePr>
            <a:graphicFrameLocks noGrp="1"/>
          </p:cNvGraphicFramePr>
          <p:nvPr/>
        </p:nvGraphicFramePr>
        <p:xfrm>
          <a:off x="548640" y="1554480"/>
          <a:ext cx="11064240" cy="4389120"/>
        </p:xfrm>
        <a:graphic>
          <a:graphicData uri="http://schemas.openxmlformats.org/drawingml/2006/table">
            <a:tbl>
              <a:tblPr/>
              <a:tblGrid>
                <a:gridCol w="2011680"/>
                <a:gridCol w="3017520"/>
                <a:gridCol w="3017520"/>
                <a:gridCol w="3017520"/>
              </a:tblGrid>
              <a:tr h="502920">
                <a:tc>
                  <a:txBody>
                    <a:bodyPr/>
                    <a:lstStyle/>
                    <a:p>
                      <a:pPr marL="0" indent="0" algn="l">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Feature</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DCE6F5"/>
                    </a:solidFill>
                  </a:tcPr>
                </a:tc>
                <a:tc>
                  <a:txBody>
                    <a:bodyPr/>
                    <a:lstStyle/>
                    <a:p>
                      <a:pPr marL="0" indent="0" algn="l">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Threat</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DCE6F5"/>
                    </a:solidFill>
                  </a:tcPr>
                </a:tc>
                <a:tc>
                  <a:txBody>
                    <a:bodyPr/>
                    <a:lstStyle/>
                    <a:p>
                      <a:pPr marL="0" indent="0" algn="l">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Attack</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DCE6F5"/>
                    </a:solidFill>
                  </a:tcPr>
                </a:tc>
                <a:tc>
                  <a:txBody>
                    <a:bodyPr/>
                    <a:lstStyle/>
                    <a:p>
                      <a:pPr marL="0" indent="0" algn="l">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Risk</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DCE6F5"/>
                    </a:solidFill>
                  </a:tcPr>
                </a:tc>
              </a:tr>
              <a:tr h="777240">
                <a:tc>
                  <a:txBody>
                    <a:bodyPr/>
                    <a:lstStyle/>
                    <a:p>
                      <a:pPr marL="0" indent="0" algn="l">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Meaning</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2F2F2"/>
                    </a:solidFill>
                  </a:tcPr>
                </a:tc>
                <a:tc>
                  <a:txBody>
                    <a:bodyPr/>
                    <a:lstStyle/>
                    <a:p>
                      <a:pPr marL="0" indent="0" algn="l">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Possible danger</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c>
                  <a:txBody>
                    <a:bodyPr/>
                    <a:lstStyle/>
                    <a:p>
                      <a:pPr marL="0" indent="0" algn="l">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Actual attempt to cause harm</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c>
                  <a:txBody>
                    <a:bodyPr/>
                    <a:lstStyle/>
                    <a:p>
                      <a:pPr marL="0" indent="0" algn="l">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Chance and size of loss</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r>
              <a:tr h="777240">
                <a:tc>
                  <a:txBody>
                    <a:bodyPr/>
                    <a:lstStyle/>
                    <a:p>
                      <a:pPr marL="0" indent="0" algn="l">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Status</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2F2F2"/>
                    </a:solidFill>
                  </a:tcPr>
                </a:tc>
                <a:tc>
                  <a:txBody>
                    <a:bodyPr/>
                    <a:lstStyle/>
                    <a:p>
                      <a:pPr marL="0" indent="0" algn="l">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Not yet happened</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c>
                  <a:txBody>
                    <a:bodyPr/>
                    <a:lstStyle/>
                    <a:p>
                      <a:pPr marL="0" indent="0" algn="l">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Happening or has happened</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c>
                  <a:txBody>
                    <a:bodyPr/>
                    <a:lstStyle/>
                    <a:p>
                      <a:pPr marL="0" indent="0" algn="l">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Estimated before an event</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r>
              <a:tr h="777240">
                <a:tc>
                  <a:txBody>
                    <a:bodyPr/>
                    <a:lstStyle/>
                    <a:p>
                      <a:pPr marL="0" indent="0" algn="l">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Example</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2F2F2"/>
                    </a:solidFill>
                  </a:tcPr>
                </a:tc>
                <a:tc>
                  <a:txBody>
                    <a:bodyPr/>
                    <a:lstStyle/>
                    <a:p>
                      <a:pPr marL="0" indent="0" algn="l">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A hacker group targets a college site</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c>
                  <a:txBody>
                    <a:bodyPr/>
                    <a:lstStyle/>
                    <a:p>
                      <a:pPr marL="0" indent="0" algn="l">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A phishing e-mail is actually sent</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c>
                  <a:txBody>
                    <a:bodyPr/>
                    <a:lstStyle/>
                    <a:p>
                      <a:pPr marL="0" indent="0" algn="l">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Student data leaks due to weak passwords</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r>
              <a:tr h="777240">
                <a:tc>
                  <a:txBody>
                    <a:bodyPr/>
                    <a:lstStyle/>
                    <a:p>
                      <a:pPr marL="0" indent="0" algn="l">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Key question</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2F2F2"/>
                    </a:solidFill>
                  </a:tcPr>
                </a:tc>
                <a:tc>
                  <a:txBody>
                    <a:bodyPr/>
                    <a:lstStyle/>
                    <a:p>
                      <a:pPr marL="0" indent="0" algn="l">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What could go wrong?</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c>
                  <a:txBody>
                    <a:bodyPr/>
                    <a:lstStyle/>
                    <a:p>
                      <a:pPr marL="0" indent="0" algn="l">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What is happening now?</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c>
                  <a:txBody>
                    <a:bodyPr/>
                    <a:lstStyle/>
                    <a:p>
                      <a:pPr marL="0" indent="0" algn="l">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How likely and how bad?</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r>
              <a:tr h="777240">
                <a:tc>
                  <a:txBody>
                    <a:bodyPr/>
                    <a:lstStyle/>
                    <a:p>
                      <a:pPr marL="0" indent="0" algn="l">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Response</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2F2F2"/>
                    </a:solidFill>
                  </a:tcPr>
                </a:tc>
                <a:tc>
                  <a:txBody>
                    <a:bodyPr/>
                    <a:lstStyle/>
                    <a:p>
                      <a:pPr marL="0" indent="0" algn="l">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Stay aware and monitor</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c>
                  <a:txBody>
                    <a:bodyPr/>
                    <a:lstStyle/>
                    <a:p>
                      <a:pPr marL="0" indent="0" algn="l">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Detect, block and respond</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c>
                  <a:txBody>
                    <a:bodyPr/>
                    <a:lstStyle/>
                    <a:p>
                      <a:pPr marL="0" indent="0" algn="l">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Assess, reduce and review</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r>
            </a:tbl>
          </a:graphicData>
        </a:graphic>
      </p:graphicFrame>
      <p:sp>
        <p:nvSpPr>
          <p:cNvPr id="5" name="Comparison caption"/>
          <p:cNvSpPr txBox="1"/>
          <p:nvPr/>
        </p:nvSpPr>
        <p:spPr>
          <a:xfrm>
            <a:off x="548640" y="6035040"/>
            <a:ext cx="10058400" cy="365760"/>
          </a:xfrm>
          <a:prstGeom prst="rect">
            <a:avLst/>
          </a:prstGeom>
          <a:noFill/>
        </p:spPr>
        <p:txBody>
          <a:bodyPr wrap="square" lIns="635" tIns="635" rIns="635" bIns="635" rtlCol="0" anchor="t"/>
          <a:lstStyle/>
          <a:p>
            <a:pPr marL="0" indent="0">
              <a:buNone/>
            </a:pPr>
            <a:r>
              <a:rPr lang="en-US" sz="18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Memory aid: dark clouds = threat, storm = attack, flood damage chance = risk.</a:t>
            </a:r>
            <a:endParaRPr lang="en-US" sz="1800" dirty="0"/>
          </a:p>
        </p:txBody>
      </p:sp>
      <p:sp>
        <p:nvSpPr>
          <p:cNvPr id="25" name="Slide Number Placeholder 0"/>
          <p:cNvSpPr>
            <a:spLocks noGrp="1"/>
          </p:cNvSpPr>
          <p:nvPr>
            <p:ph type="sldNum" sz="quarter" idx="4294967295"/>
          </p:nvPr>
        </p:nvSpPr>
        <p:spPr>
          <a:xfrm>
            <a:off x="10972800" y="6428232"/>
            <a:ext cx="822960" cy="320040"/>
          </a:xfrm>
          <a:prstGeom prst="rect">
            <a:avLst/>
          </a:prstGeom>
        </p:spPr>
        <p:txBody>
          <a:bodyPr/>
          <a:lstStyle>
            <a:lvl1pPr>
              <a:defRPr sz="1400">
                <a:solidFill>
                  <a:srgbClr val="000000"/>
                </a:solidFill>
                <a:latin typeface="Times New Roman" panose="02020603050405020304"/>
                <a:ea typeface="Times New Roman" panose="02020603050405020304"/>
                <a:cs typeface="Times New Roman" panose="02020603050405020304"/>
              </a:defRPr>
            </a:lvl1pPr>
          </a:lstStyle>
          <a:p>
            <a:pPr algn="r"/>
            <a:fld id="{F7021451-1387-4CA6-816F-3879F97B5CBC}" type="slidenum">
              <a:rPr lang="en-US" b="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2" hasCustomPrompt="1"/>
          </p:nvPr>
        </p:nvSpPr>
        <p:spPr>
          <a:xfrm>
            <a:off x="1371600" y="274320"/>
            <a:ext cx="9418320" cy="914400"/>
          </a:xfrm>
          <a:prstGeom prst="rect">
            <a:avLst/>
          </a:prstGeom>
          <a:noFill/>
        </p:spPr>
        <p:txBody>
          <a:bodyPr wrap="square" lIns="0" tIns="0" rIns="0" bIns="0" rtlCol="0" anchor="ctr"/>
          <a:lstStyle/>
          <a:p>
            <a:pPr marL="0" indent="0" algn="ctr">
              <a:buNone/>
            </a:pPr>
            <a:r>
              <a:rPr lang="en-US" sz="32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Impact on Security Goals</a:t>
            </a:r>
            <a:endParaRPr lang="en-US" sz="3200" dirty="0"/>
          </a:p>
        </p:txBody>
      </p:sp>
      <p:graphicFrame>
        <p:nvGraphicFramePr>
          <p:cNvPr id="10" name="Table 0"/>
          <p:cNvGraphicFramePr>
            <a:graphicFrameLocks noGrp="1"/>
          </p:cNvGraphicFramePr>
          <p:nvPr/>
        </p:nvGraphicFramePr>
        <p:xfrm>
          <a:off x="548640" y="1554480"/>
          <a:ext cx="11064240" cy="3474720"/>
        </p:xfrm>
        <a:graphic>
          <a:graphicData uri="http://schemas.openxmlformats.org/drawingml/2006/table">
            <a:tbl>
              <a:tblPr/>
              <a:tblGrid>
                <a:gridCol w="3108960"/>
                <a:gridCol w="2651760"/>
                <a:gridCol w="2651760"/>
                <a:gridCol w="2651760"/>
              </a:tblGrid>
              <a:tr h="502920">
                <a:tc>
                  <a:txBody>
                    <a:bodyPr/>
                    <a:lstStyle/>
                    <a:p>
                      <a:pPr marL="0" indent="0" algn="l">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Attack</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DCE6F5"/>
                    </a:solidFill>
                  </a:tcPr>
                </a:tc>
                <a:tc>
                  <a:txBody>
                    <a:bodyPr/>
                    <a:lstStyle/>
                    <a:p>
                      <a:pPr marL="0" indent="0" algn="ctr">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Confidentiality</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DCE6F5"/>
                    </a:solidFill>
                  </a:tcPr>
                </a:tc>
                <a:tc>
                  <a:txBody>
                    <a:bodyPr/>
                    <a:lstStyle/>
                    <a:p>
                      <a:pPr marL="0" indent="0" algn="ctr">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Integrity</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DCE6F5"/>
                    </a:solidFill>
                  </a:tcPr>
                </a:tc>
                <a:tc>
                  <a:txBody>
                    <a:bodyPr/>
                    <a:lstStyle/>
                    <a:p>
                      <a:pPr marL="0" indent="0" algn="ctr">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Availability</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DCE6F5"/>
                    </a:solidFill>
                  </a:tcPr>
                </a:tc>
              </a:tr>
              <a:tr h="594360">
                <a:tc>
                  <a:txBody>
                    <a:bodyPr/>
                    <a:lstStyle/>
                    <a:p>
                      <a:pPr marL="0" indent="0" algn="l">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Phishing</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2F2F2"/>
                    </a:solidFill>
                  </a:tcPr>
                </a:tc>
                <a:tc>
                  <a:txBody>
                    <a:bodyPr/>
                    <a:lstStyle/>
                    <a:p>
                      <a:pPr marL="0" indent="0" algn="ctr">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Main impact</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BE0E0"/>
                    </a:solidFill>
                  </a:tcPr>
                </a:tc>
                <a:tc>
                  <a:txBody>
                    <a:bodyPr/>
                    <a:lstStyle/>
                    <a:p>
                      <a:pPr marL="0" indent="0" algn="ctr">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Possible</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2CC"/>
                    </a:solidFill>
                  </a:tcPr>
                </a:tc>
                <a:tc>
                  <a:txBody>
                    <a:bodyPr/>
                    <a:lstStyle/>
                    <a:p>
                      <a:pPr marL="0" indent="0" algn="ctr">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Possible</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2CC"/>
                    </a:solidFill>
                  </a:tcPr>
                </a:tc>
              </a:tr>
              <a:tr h="594360">
                <a:tc>
                  <a:txBody>
                    <a:bodyPr/>
                    <a:lstStyle/>
                    <a:p>
                      <a:pPr marL="0" indent="0" algn="l">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Malware</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2F2F2"/>
                    </a:solidFill>
                  </a:tcPr>
                </a:tc>
                <a:tc>
                  <a:txBody>
                    <a:bodyPr/>
                    <a:lstStyle/>
                    <a:p>
                      <a:pPr marL="0" indent="0" algn="ctr">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Main impact</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BE0E0"/>
                    </a:solidFill>
                  </a:tcPr>
                </a:tc>
                <a:tc>
                  <a:txBody>
                    <a:bodyPr/>
                    <a:lstStyle/>
                    <a:p>
                      <a:pPr marL="0" indent="0" algn="ctr">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Main impact</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BE0E0"/>
                    </a:solidFill>
                  </a:tcPr>
                </a:tc>
                <a:tc>
                  <a:txBody>
                    <a:bodyPr/>
                    <a:lstStyle/>
                    <a:p>
                      <a:pPr marL="0" indent="0" algn="ctr">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Main impact</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BE0E0"/>
                    </a:solidFill>
                  </a:tcPr>
                </a:tc>
              </a:tr>
              <a:tr h="594360">
                <a:tc>
                  <a:txBody>
                    <a:bodyPr/>
                    <a:lstStyle/>
                    <a:p>
                      <a:pPr marL="0" indent="0" algn="l">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Denial-of-Service</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2F2F2"/>
                    </a:solidFill>
                  </a:tcPr>
                </a:tc>
                <a:tc>
                  <a:txBody>
                    <a:bodyPr/>
                    <a:lstStyle/>
                    <a:p>
                      <a:pPr marL="0" indent="0" algn="ctr">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Main impact</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BE0E0"/>
                    </a:solidFill>
                  </a:tcPr>
                </a:tc>
              </a:tr>
              <a:tr h="594360">
                <a:tc>
                  <a:txBody>
                    <a:bodyPr/>
                    <a:lstStyle/>
                    <a:p>
                      <a:pPr marL="0" indent="0" algn="l">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Password attacks</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2F2F2"/>
                    </a:solidFill>
                  </a:tcPr>
                </a:tc>
                <a:tc>
                  <a:txBody>
                    <a:bodyPr/>
                    <a:lstStyle/>
                    <a:p>
                      <a:pPr marL="0" indent="0" algn="ctr">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Main impact</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BE0E0"/>
                    </a:solidFill>
                  </a:tcPr>
                </a:tc>
                <a:tc>
                  <a:txBody>
                    <a:bodyPr/>
                    <a:lstStyle/>
                    <a:p>
                      <a:pPr marL="0" indent="0" algn="ctr">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Possible</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2CC"/>
                    </a:solidFill>
                  </a:tcPr>
                </a:tc>
                <a:tc>
                  <a:txBody>
                    <a:bodyPr/>
                    <a:lstStyle/>
                    <a:p>
                      <a:pPr marL="0" indent="0" algn="ctr">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Possible</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2CC"/>
                    </a:solidFill>
                  </a:tcPr>
                </a:tc>
              </a:tr>
              <a:tr h="594360">
                <a:tc>
                  <a:txBody>
                    <a:bodyPr/>
                    <a:lstStyle/>
                    <a:p>
                      <a:pPr marL="0" indent="0" algn="l">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Man-in-the-Middle</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2F2F2"/>
                    </a:solidFill>
                  </a:tcPr>
                </a:tc>
                <a:tc>
                  <a:txBody>
                    <a:bodyPr/>
                    <a:lstStyle/>
                    <a:p>
                      <a:pPr marL="0" indent="0" algn="ctr">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Main impact</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BE0E0"/>
                    </a:solidFill>
                  </a:tcPr>
                </a:tc>
                <a:tc>
                  <a:txBody>
                    <a:bodyPr/>
                    <a:lstStyle/>
                    <a:p>
                      <a:pPr marL="0" indent="0" algn="ctr">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Main impact</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BE0E0"/>
                    </a:solidFill>
                  </a:tcPr>
                </a:tc>
                <a:tc>
                  <a:txBody>
                    <a:bodyPr/>
                    <a:lstStyle/>
                    <a:p>
                      <a:pPr marL="0" indent="0" algn="ctr">
                        <a:buNone/>
                      </a:pPr>
                      <a:r>
                        <a:rPr lang="en-US" sz="20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Possible</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2CC"/>
                    </a:solidFill>
                  </a:tcPr>
                </a:tc>
              </a:tr>
            </a:tbl>
          </a:graphicData>
        </a:graphic>
      </p:graphicFrame>
      <p:sp>
        <p:nvSpPr>
          <p:cNvPr id="5" name="Legend 1"/>
          <p:cNvSpPr/>
          <p:nvPr/>
        </p:nvSpPr>
        <p:spPr>
          <a:xfrm>
            <a:off x="548640" y="5074920"/>
            <a:ext cx="2286000" cy="457200"/>
          </a:xfrm>
          <a:prstGeom prst="roundRect">
            <a:avLst>
              <a:gd name="adj" fmla="val 20000"/>
            </a:avLst>
          </a:prstGeom>
          <a:solidFill>
            <a:srgbClr val="FBE0E0"/>
          </a:solidFill>
          <a:ln w="15875">
            <a:solidFill>
              <a:srgbClr val="1F3864"/>
            </a:solidFill>
            <a:prstDash val="solid"/>
          </a:ln>
        </p:spPr>
      </p:sp>
      <p:sp>
        <p:nvSpPr>
          <p:cNvPr id="6" name="Legend text 1"/>
          <p:cNvSpPr txBox="1"/>
          <p:nvPr/>
        </p:nvSpPr>
        <p:spPr>
          <a:xfrm>
            <a:off x="548640" y="5074920"/>
            <a:ext cx="2286000" cy="457200"/>
          </a:xfrm>
          <a:prstGeom prst="rect">
            <a:avLst/>
          </a:prstGeom>
          <a:noFill/>
        </p:spPr>
        <p:txBody>
          <a:bodyPr wrap="square" lIns="0" tIns="0" rIns="0" bIns="0" rtlCol="0" anchor="ctr"/>
          <a:lstStyle/>
          <a:p>
            <a:pPr marL="0" indent="0" algn="ctr">
              <a:buNone/>
            </a:pPr>
            <a:r>
              <a:rPr lang="en-US" sz="18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Main impact</a:t>
            </a:r>
            <a:endParaRPr lang="en-US" sz="1800" dirty="0"/>
          </a:p>
        </p:txBody>
      </p:sp>
      <p:sp>
        <p:nvSpPr>
          <p:cNvPr id="7" name="Legend 2"/>
          <p:cNvSpPr/>
          <p:nvPr/>
        </p:nvSpPr>
        <p:spPr>
          <a:xfrm>
            <a:off x="3017520" y="5074920"/>
            <a:ext cx="2286000" cy="457200"/>
          </a:xfrm>
          <a:prstGeom prst="roundRect">
            <a:avLst>
              <a:gd name="adj" fmla="val 20000"/>
            </a:avLst>
          </a:prstGeom>
          <a:solidFill>
            <a:srgbClr val="FFF2CC"/>
          </a:solidFill>
          <a:ln w="15875">
            <a:solidFill>
              <a:srgbClr val="1F3864"/>
            </a:solidFill>
            <a:prstDash val="solid"/>
          </a:ln>
        </p:spPr>
      </p:sp>
      <p:sp>
        <p:nvSpPr>
          <p:cNvPr id="8" name="Legend text 2"/>
          <p:cNvSpPr txBox="1"/>
          <p:nvPr/>
        </p:nvSpPr>
        <p:spPr>
          <a:xfrm>
            <a:off x="3017520" y="5074920"/>
            <a:ext cx="2286000" cy="457200"/>
          </a:xfrm>
          <a:prstGeom prst="rect">
            <a:avLst/>
          </a:prstGeom>
          <a:noFill/>
        </p:spPr>
        <p:txBody>
          <a:bodyPr wrap="square" lIns="0" tIns="0" rIns="0" bIns="0" rtlCol="0" anchor="ctr"/>
          <a:lstStyle/>
          <a:p>
            <a:pPr marL="0" indent="0" algn="ctr">
              <a:buNone/>
            </a:pPr>
            <a:r>
              <a:rPr lang="en-US" sz="18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Possible impact</a:t>
            </a:r>
            <a:endParaRPr lang="en-US" sz="1800" dirty="0"/>
          </a:p>
        </p:txBody>
      </p:sp>
      <p:sp>
        <p:nvSpPr>
          <p:cNvPr id="9" name="Legend 3"/>
          <p:cNvSpPr/>
          <p:nvPr/>
        </p:nvSpPr>
        <p:spPr>
          <a:xfrm>
            <a:off x="5486400" y="5074920"/>
            <a:ext cx="2286000" cy="457200"/>
          </a:xfrm>
          <a:prstGeom prst="roundRect">
            <a:avLst>
              <a:gd name="adj" fmla="val 20000"/>
            </a:avLst>
          </a:prstGeom>
          <a:solidFill>
            <a:srgbClr val="FFFFFF"/>
          </a:solidFill>
          <a:ln w="15875">
            <a:solidFill>
              <a:srgbClr val="1F3864"/>
            </a:solidFill>
            <a:prstDash val="solid"/>
          </a:ln>
        </p:spPr>
      </p:sp>
      <p:sp>
        <p:nvSpPr>
          <p:cNvPr id="3" name="Legend text 3"/>
          <p:cNvSpPr txBox="1"/>
          <p:nvPr/>
        </p:nvSpPr>
        <p:spPr>
          <a:xfrm>
            <a:off x="5486400" y="5074920"/>
            <a:ext cx="2286000" cy="457200"/>
          </a:xfrm>
          <a:prstGeom prst="rect">
            <a:avLst/>
          </a:prstGeom>
          <a:noFill/>
        </p:spPr>
        <p:txBody>
          <a:bodyPr wrap="square" lIns="0" tIns="0" rIns="0" bIns="0" rtlCol="0" anchor="ctr"/>
          <a:lstStyle/>
          <a:p>
            <a:pPr marL="0" indent="0" algn="ctr">
              <a:buNone/>
            </a:pPr>
            <a:r>
              <a:rPr lang="en-US" sz="18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Usually not affected</a:t>
            </a:r>
            <a:endParaRPr lang="en-US" sz="1800" dirty="0"/>
          </a:p>
        </p:txBody>
      </p:sp>
      <p:sp>
        <p:nvSpPr>
          <p:cNvPr id="11" name="Impact caption"/>
          <p:cNvSpPr txBox="1"/>
          <p:nvPr/>
        </p:nvSpPr>
        <p:spPr>
          <a:xfrm>
            <a:off x="548640" y="5669280"/>
            <a:ext cx="11064240" cy="685800"/>
          </a:xfrm>
          <a:prstGeom prst="rect">
            <a:avLst/>
          </a:prstGeom>
          <a:noFill/>
        </p:spPr>
        <p:txBody>
          <a:bodyPr wrap="square" lIns="635" tIns="635" rIns="635" bIns="635" rtlCol="0" anchor="t"/>
          <a:lstStyle/>
          <a:p>
            <a:pPr marL="0" indent="0">
              <a:buNone/>
            </a:pPr>
            <a:r>
              <a:rPr lang="en-US" sz="18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Malware impact depends on its type: spyware (C), virus (I), ransomware (A). Passive attacks mainly hit C; active attacks mainly hit I and A.</a:t>
            </a:r>
            <a:endParaRPr lang="en-US" sz="1800" dirty="0"/>
          </a:p>
        </p:txBody>
      </p:sp>
      <p:sp>
        <p:nvSpPr>
          <p:cNvPr id="25" name="Slide Number Placeholder 0"/>
          <p:cNvSpPr>
            <a:spLocks noGrp="1"/>
          </p:cNvSpPr>
          <p:nvPr>
            <p:ph type="sldNum" sz="quarter" idx="4294967295"/>
          </p:nvPr>
        </p:nvSpPr>
        <p:spPr>
          <a:xfrm>
            <a:off x="10972800" y="6428232"/>
            <a:ext cx="822960" cy="320040"/>
          </a:xfrm>
          <a:prstGeom prst="rect">
            <a:avLst/>
          </a:prstGeom>
        </p:spPr>
        <p:txBody>
          <a:bodyPr/>
          <a:lstStyle>
            <a:lvl1pPr>
              <a:defRPr sz="1400">
                <a:solidFill>
                  <a:srgbClr val="000000"/>
                </a:solidFill>
                <a:latin typeface="Times New Roman" panose="02020603050405020304"/>
                <a:ea typeface="Times New Roman" panose="02020603050405020304"/>
                <a:cs typeface="Times New Roman" panose="02020603050405020304"/>
              </a:defRPr>
            </a:lvl1pPr>
          </a:lstStyle>
          <a:p>
            <a:pPr algn="r"/>
            <a:fld id="{F7021451-1387-4CA6-816F-3879F97B5CBC}" type="slidenum">
              <a:rPr lang="en-US" b="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2" hasCustomPrompt="1"/>
          </p:nvPr>
        </p:nvSpPr>
        <p:spPr>
          <a:xfrm>
            <a:off x="1371600" y="274320"/>
            <a:ext cx="9418320" cy="914400"/>
          </a:xfrm>
          <a:prstGeom prst="rect">
            <a:avLst/>
          </a:prstGeom>
          <a:noFill/>
        </p:spPr>
        <p:txBody>
          <a:bodyPr wrap="square" lIns="0" tIns="0" rIns="0" bIns="0" rtlCol="0" anchor="ctr"/>
          <a:lstStyle/>
          <a:p>
            <a:pPr marL="0" indent="0" algn="ctr">
              <a:buNone/>
            </a:pPr>
            <a:r>
              <a:rPr lang="en-US" sz="32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Case Study: Online Ticket Booking</a:t>
            </a:r>
            <a:endParaRPr lang="en-US" sz="3200" dirty="0"/>
          </a:p>
        </p:txBody>
      </p:sp>
      <p:sp>
        <p:nvSpPr>
          <p:cNvPr id="4" name="Case caption"/>
          <p:cNvSpPr txBox="1"/>
          <p:nvPr/>
        </p:nvSpPr>
        <p:spPr>
          <a:xfrm>
            <a:off x="548640" y="1463040"/>
            <a:ext cx="9784080" cy="365760"/>
          </a:xfrm>
          <a:prstGeom prst="rect">
            <a:avLst/>
          </a:prstGeom>
          <a:noFill/>
        </p:spPr>
        <p:txBody>
          <a:bodyPr wrap="square" lIns="635" tIns="635" rIns="635" bIns="635" rtlCol="0" anchor="t"/>
          <a:lstStyle/>
          <a:p>
            <a:pPr marL="0" indent="0">
              <a:buNone/>
            </a:pPr>
            <a:r>
              <a:rPr lang="en-US" sz="18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Hypothetical “CampusFest Tickets” portal – illustration only, no real data or test results.</a:t>
            </a:r>
            <a:endParaRPr lang="en-US" sz="1800" dirty="0"/>
          </a:p>
        </p:txBody>
      </p:sp>
      <p:sp>
        <p:nvSpPr>
          <p:cNvPr id="5" name="Arch 1"/>
          <p:cNvSpPr/>
          <p:nvPr/>
        </p:nvSpPr>
        <p:spPr>
          <a:xfrm>
            <a:off x="548640" y="1965960"/>
            <a:ext cx="3291840" cy="777240"/>
          </a:xfrm>
          <a:prstGeom prst="roundRect">
            <a:avLst>
              <a:gd name="adj" fmla="val 11765"/>
            </a:avLst>
          </a:prstGeom>
          <a:solidFill>
            <a:srgbClr val="DCE6F5"/>
          </a:solidFill>
          <a:ln w="15875">
            <a:solidFill>
              <a:srgbClr val="1F3864"/>
            </a:solidFill>
            <a:prstDash val="solid"/>
          </a:ln>
        </p:spPr>
      </p:sp>
      <p:sp>
        <p:nvSpPr>
          <p:cNvPr id="6" name="Arch text 1"/>
          <p:cNvSpPr txBox="1"/>
          <p:nvPr/>
        </p:nvSpPr>
        <p:spPr>
          <a:xfrm>
            <a:off x="548640" y="1965960"/>
            <a:ext cx="3291840" cy="777240"/>
          </a:xfrm>
          <a:prstGeom prst="rect">
            <a:avLst/>
          </a:prstGeom>
          <a:noFill/>
        </p:spPr>
        <p:txBody>
          <a:bodyPr wrap="square" lIns="635" tIns="635" rIns="635" bIns="635" rtlCol="0" anchor="ctr"/>
          <a:lstStyle/>
          <a:p>
            <a:pPr marL="0" indent="0" algn="ctr">
              <a:buNone/>
            </a:pPr>
            <a:r>
              <a:rPr lang="en-US" sz="20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Student browser</a:t>
            </a:r>
            <a:endParaRPr lang="en-US" sz="2000" dirty="0"/>
          </a:p>
        </p:txBody>
      </p:sp>
      <p:sp>
        <p:nvSpPr>
          <p:cNvPr id="7" name="Marker 1"/>
          <p:cNvSpPr/>
          <p:nvPr/>
        </p:nvSpPr>
        <p:spPr>
          <a:xfrm>
            <a:off x="365760" y="1783080"/>
            <a:ext cx="457200" cy="457200"/>
          </a:xfrm>
          <a:prstGeom prst="ellipse">
            <a:avLst/>
          </a:prstGeom>
          <a:solidFill>
            <a:srgbClr val="FBE0E0"/>
          </a:solidFill>
          <a:ln w="15875">
            <a:solidFill>
              <a:srgbClr val="1F3864"/>
            </a:solidFill>
            <a:prstDash val="solid"/>
          </a:ln>
        </p:spPr>
      </p:sp>
      <p:sp>
        <p:nvSpPr>
          <p:cNvPr id="8" name="Marker text 1"/>
          <p:cNvSpPr txBox="1"/>
          <p:nvPr/>
        </p:nvSpPr>
        <p:spPr>
          <a:xfrm>
            <a:off x="365760" y="1783080"/>
            <a:ext cx="457200" cy="457200"/>
          </a:xfrm>
          <a:prstGeom prst="rect">
            <a:avLst/>
          </a:prstGeom>
          <a:noFill/>
        </p:spPr>
        <p:txBody>
          <a:bodyPr wrap="square" lIns="0" tIns="0" rIns="0" bIns="0" rtlCol="0" anchor="ctr"/>
          <a:lstStyle/>
          <a:p>
            <a:pPr marL="0" indent="0" algn="ctr">
              <a:buNone/>
            </a:pPr>
            <a:r>
              <a:rPr lang="en-US" sz="18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1</a:t>
            </a:r>
            <a:endParaRPr lang="en-US" sz="1800" dirty="0"/>
          </a:p>
        </p:txBody>
      </p:sp>
      <p:sp>
        <p:nvSpPr>
          <p:cNvPr id="9" name="Arch arrow 1"/>
          <p:cNvSpPr txBox="1"/>
          <p:nvPr/>
        </p:nvSpPr>
        <p:spPr>
          <a:xfrm>
            <a:off x="3840480" y="1965960"/>
            <a:ext cx="594360" cy="777240"/>
          </a:xfrm>
          <a:prstGeom prst="rect">
            <a:avLst/>
          </a:prstGeom>
          <a:noFill/>
        </p:spPr>
        <p:txBody>
          <a:bodyPr wrap="square" lIns="0" tIns="0" rIns="0" bIns="0" rtlCol="0" anchor="ctr"/>
          <a:lstStyle/>
          <a:p>
            <a:pPr marL="0" indent="0" algn="ctr">
              <a:buNone/>
            </a:pPr>
            <a:r>
              <a:rPr lang="en-US" sz="28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2800" dirty="0"/>
          </a:p>
        </p:txBody>
      </p:sp>
      <p:sp>
        <p:nvSpPr>
          <p:cNvPr id="10" name="Arch 2"/>
          <p:cNvSpPr/>
          <p:nvPr/>
        </p:nvSpPr>
        <p:spPr>
          <a:xfrm>
            <a:off x="4434840" y="1965960"/>
            <a:ext cx="3291840" cy="777240"/>
          </a:xfrm>
          <a:prstGeom prst="roundRect">
            <a:avLst>
              <a:gd name="adj" fmla="val 11765"/>
            </a:avLst>
          </a:prstGeom>
          <a:solidFill>
            <a:srgbClr val="DCE6F5"/>
          </a:solidFill>
          <a:ln w="15875">
            <a:solidFill>
              <a:srgbClr val="1F3864"/>
            </a:solidFill>
            <a:prstDash val="solid"/>
          </a:ln>
        </p:spPr>
      </p:sp>
      <p:sp>
        <p:nvSpPr>
          <p:cNvPr id="11" name="Arch text 2"/>
          <p:cNvSpPr txBox="1"/>
          <p:nvPr/>
        </p:nvSpPr>
        <p:spPr>
          <a:xfrm>
            <a:off x="4434840" y="1965960"/>
            <a:ext cx="3291840" cy="777240"/>
          </a:xfrm>
          <a:prstGeom prst="rect">
            <a:avLst/>
          </a:prstGeom>
          <a:noFill/>
        </p:spPr>
        <p:txBody>
          <a:bodyPr wrap="square" lIns="635" tIns="635" rIns="635" bIns="635" rtlCol="0" anchor="ctr"/>
          <a:lstStyle/>
          <a:p>
            <a:pPr marL="0" indent="0" algn="ctr">
              <a:buNone/>
            </a:pPr>
            <a:r>
              <a:rPr lang="en-US" sz="20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Ticket website (web server)</a:t>
            </a:r>
            <a:endParaRPr lang="en-US" sz="2000" dirty="0"/>
          </a:p>
        </p:txBody>
      </p:sp>
      <p:sp>
        <p:nvSpPr>
          <p:cNvPr id="12" name="Marker 2"/>
          <p:cNvSpPr/>
          <p:nvPr/>
        </p:nvSpPr>
        <p:spPr>
          <a:xfrm>
            <a:off x="4251960" y="1783080"/>
            <a:ext cx="457200" cy="457200"/>
          </a:xfrm>
          <a:prstGeom prst="ellipse">
            <a:avLst/>
          </a:prstGeom>
          <a:solidFill>
            <a:srgbClr val="FBE0E0"/>
          </a:solidFill>
          <a:ln w="15875">
            <a:solidFill>
              <a:srgbClr val="1F3864"/>
            </a:solidFill>
            <a:prstDash val="solid"/>
          </a:ln>
        </p:spPr>
      </p:sp>
      <p:sp>
        <p:nvSpPr>
          <p:cNvPr id="13" name="Marker text 2"/>
          <p:cNvSpPr txBox="1"/>
          <p:nvPr/>
        </p:nvSpPr>
        <p:spPr>
          <a:xfrm>
            <a:off x="4251960" y="1783080"/>
            <a:ext cx="457200" cy="457200"/>
          </a:xfrm>
          <a:prstGeom prst="rect">
            <a:avLst/>
          </a:prstGeom>
          <a:noFill/>
        </p:spPr>
        <p:txBody>
          <a:bodyPr wrap="square" lIns="0" tIns="0" rIns="0" bIns="0" rtlCol="0" anchor="ctr"/>
          <a:lstStyle/>
          <a:p>
            <a:pPr marL="0" indent="0" algn="ctr">
              <a:buNone/>
            </a:pPr>
            <a:r>
              <a:rPr lang="en-US" sz="18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2</a:t>
            </a:r>
            <a:endParaRPr lang="en-US" sz="1800" dirty="0"/>
          </a:p>
        </p:txBody>
      </p:sp>
      <p:sp>
        <p:nvSpPr>
          <p:cNvPr id="14" name="Arch arrow 2"/>
          <p:cNvSpPr txBox="1"/>
          <p:nvPr/>
        </p:nvSpPr>
        <p:spPr>
          <a:xfrm>
            <a:off x="7726680" y="1965960"/>
            <a:ext cx="594360" cy="777240"/>
          </a:xfrm>
          <a:prstGeom prst="rect">
            <a:avLst/>
          </a:prstGeom>
          <a:noFill/>
        </p:spPr>
        <p:txBody>
          <a:bodyPr wrap="square" lIns="0" tIns="0" rIns="0" bIns="0" rtlCol="0" anchor="ctr"/>
          <a:lstStyle/>
          <a:p>
            <a:pPr marL="0" indent="0" algn="ctr">
              <a:buNone/>
            </a:pPr>
            <a:r>
              <a:rPr lang="en-US" sz="28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2800" dirty="0"/>
          </a:p>
        </p:txBody>
      </p:sp>
      <p:sp>
        <p:nvSpPr>
          <p:cNvPr id="15" name="Arch 3"/>
          <p:cNvSpPr/>
          <p:nvPr/>
        </p:nvSpPr>
        <p:spPr>
          <a:xfrm>
            <a:off x="8321040" y="1965960"/>
            <a:ext cx="3291840" cy="777240"/>
          </a:xfrm>
          <a:prstGeom prst="roundRect">
            <a:avLst>
              <a:gd name="adj" fmla="val 11765"/>
            </a:avLst>
          </a:prstGeom>
          <a:solidFill>
            <a:srgbClr val="DCE6F5"/>
          </a:solidFill>
          <a:ln w="15875">
            <a:solidFill>
              <a:srgbClr val="1F3864"/>
            </a:solidFill>
            <a:prstDash val="solid"/>
          </a:ln>
        </p:spPr>
      </p:sp>
      <p:sp>
        <p:nvSpPr>
          <p:cNvPr id="16" name="Arch text 3"/>
          <p:cNvSpPr txBox="1"/>
          <p:nvPr/>
        </p:nvSpPr>
        <p:spPr>
          <a:xfrm>
            <a:off x="8321040" y="1965960"/>
            <a:ext cx="3291840" cy="777240"/>
          </a:xfrm>
          <a:prstGeom prst="rect">
            <a:avLst/>
          </a:prstGeom>
          <a:noFill/>
        </p:spPr>
        <p:txBody>
          <a:bodyPr wrap="square" lIns="635" tIns="635" rIns="635" bIns="635" rtlCol="0" anchor="ctr"/>
          <a:lstStyle/>
          <a:p>
            <a:pPr marL="0" indent="0" algn="ctr">
              <a:buNone/>
            </a:pPr>
            <a:r>
              <a:rPr lang="en-US" sz="20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Database and payment gateway</a:t>
            </a:r>
            <a:endParaRPr lang="en-US" sz="2000" dirty="0"/>
          </a:p>
        </p:txBody>
      </p:sp>
      <p:sp>
        <p:nvSpPr>
          <p:cNvPr id="17" name="Marker 3"/>
          <p:cNvSpPr/>
          <p:nvPr/>
        </p:nvSpPr>
        <p:spPr>
          <a:xfrm>
            <a:off x="8138160" y="1783080"/>
            <a:ext cx="457200" cy="457200"/>
          </a:xfrm>
          <a:prstGeom prst="ellipse">
            <a:avLst/>
          </a:prstGeom>
          <a:solidFill>
            <a:srgbClr val="FBE0E0"/>
          </a:solidFill>
          <a:ln w="15875">
            <a:solidFill>
              <a:srgbClr val="1F3864"/>
            </a:solidFill>
            <a:prstDash val="solid"/>
          </a:ln>
        </p:spPr>
      </p:sp>
      <p:sp>
        <p:nvSpPr>
          <p:cNvPr id="18" name="Marker text 3"/>
          <p:cNvSpPr txBox="1"/>
          <p:nvPr/>
        </p:nvSpPr>
        <p:spPr>
          <a:xfrm>
            <a:off x="8138160" y="1783080"/>
            <a:ext cx="457200" cy="457200"/>
          </a:xfrm>
          <a:prstGeom prst="rect">
            <a:avLst/>
          </a:prstGeom>
          <a:noFill/>
        </p:spPr>
        <p:txBody>
          <a:bodyPr wrap="square" lIns="0" tIns="0" rIns="0" bIns="0" rtlCol="0" anchor="ctr"/>
          <a:lstStyle/>
          <a:p>
            <a:pPr marL="0" indent="0" algn="ctr">
              <a:buNone/>
            </a:pPr>
            <a:r>
              <a:rPr lang="en-US" sz="18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3</a:t>
            </a:r>
            <a:endParaRPr lang="en-US" sz="1800" dirty="0"/>
          </a:p>
        </p:txBody>
      </p:sp>
      <p:graphicFrame>
        <p:nvGraphicFramePr>
          <p:cNvPr id="3" name="Table 0"/>
          <p:cNvGraphicFramePr>
            <a:graphicFrameLocks noGrp="1"/>
          </p:cNvGraphicFramePr>
          <p:nvPr/>
        </p:nvGraphicFramePr>
        <p:xfrm>
          <a:off x="548640" y="3017520"/>
          <a:ext cx="11064240" cy="3246120"/>
        </p:xfrm>
        <a:graphic>
          <a:graphicData uri="http://schemas.openxmlformats.org/drawingml/2006/table">
            <a:tbl>
              <a:tblPr/>
              <a:tblGrid>
                <a:gridCol w="2651760"/>
                <a:gridCol w="3291840"/>
                <a:gridCol w="1737360"/>
                <a:gridCol w="3383280"/>
              </a:tblGrid>
              <a:tr h="502920">
                <a:tc>
                  <a:txBody>
                    <a:bodyPr/>
                    <a:lstStyle/>
                    <a:p>
                      <a:pPr marL="0" indent="0" algn="l">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Attack point</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DCE6F5"/>
                    </a:solidFill>
                  </a:tcPr>
                </a:tc>
                <a:tc>
                  <a:txBody>
                    <a:bodyPr/>
                    <a:lstStyle/>
                    <a:p>
                      <a:pPr marL="0" indent="0" algn="l">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What could happen</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DCE6F5"/>
                    </a:solidFill>
                  </a:tcPr>
                </a:tc>
                <a:tc>
                  <a:txBody>
                    <a:bodyPr/>
                    <a:lstStyle/>
                    <a:p>
                      <a:pPr marL="0" indent="0" algn="l">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Goal hit</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DCE6F5"/>
                    </a:solidFill>
                  </a:tcPr>
                </a:tc>
                <a:tc>
                  <a:txBody>
                    <a:bodyPr/>
                    <a:lstStyle/>
                    <a:p>
                      <a:pPr marL="0" indent="0" algn="l">
                        <a:buNone/>
                      </a:pPr>
                      <a:r>
                        <a:rPr lang="en-US" sz="20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Defence</a:t>
                      </a:r>
                      <a:endParaRPr lang="en-US" sz="20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DCE6F5"/>
                    </a:solidFill>
                  </a:tcPr>
                </a:tc>
              </a:tr>
              <a:tr h="914400">
                <a:tc>
                  <a:txBody>
                    <a:bodyPr/>
                    <a:lstStyle/>
                    <a:p>
                      <a:pPr marL="0" indent="0" algn="l">
                        <a:buNone/>
                      </a:pPr>
                      <a:r>
                        <a:rPr lang="en-US" sz="18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1. Phishing (fake login e-mail)</a:t>
                      </a:r>
                      <a:endParaRPr lang="en-US" sz="18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2F2F2"/>
                    </a:solidFill>
                  </a:tcPr>
                </a:tc>
                <a:tc>
                  <a:txBody>
                    <a:bodyPr/>
                    <a:lstStyle/>
                    <a:p>
                      <a:pPr marL="0" indent="0" algn="l">
                        <a:buNone/>
                      </a:pPr>
                      <a:r>
                        <a:rPr lang="en-US" sz="18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Student types password on a fake page; attacker logs in</a:t>
                      </a:r>
                      <a:endParaRPr lang="en-US" sz="18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c>
                  <a:txBody>
                    <a:bodyPr/>
                    <a:lstStyle/>
                    <a:p>
                      <a:pPr marL="0" indent="0" algn="l">
                        <a:buNone/>
                      </a:pPr>
                      <a:r>
                        <a:rPr lang="en-US" sz="18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Confidentiality</a:t>
                      </a:r>
                      <a:endParaRPr lang="en-US" sz="18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c>
                  <a:txBody>
                    <a:bodyPr/>
                    <a:lstStyle/>
                    <a:p>
                      <a:pPr marL="0" indent="0" algn="l">
                        <a:buNone/>
                      </a:pPr>
                      <a:r>
                        <a:rPr lang="en-US" sz="18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Multi-factor authentication, awareness, e-mail filtering</a:t>
                      </a:r>
                      <a:endParaRPr lang="en-US" sz="18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r>
              <a:tr h="914400">
                <a:tc>
                  <a:txBody>
                    <a:bodyPr/>
                    <a:lstStyle/>
                    <a:p>
                      <a:pPr marL="0" indent="0" algn="l">
                        <a:buNone/>
                      </a:pPr>
                      <a:r>
                        <a:rPr lang="en-US" sz="18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2. DoS (bot flood on sale day)</a:t>
                      </a:r>
                      <a:endParaRPr lang="en-US" sz="18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2F2F2"/>
                    </a:solidFill>
                  </a:tcPr>
                </a:tc>
                <a:tc>
                  <a:txBody>
                    <a:bodyPr/>
                    <a:lstStyle/>
                    <a:p>
                      <a:pPr marL="0" indent="0" algn="l">
                        <a:buNone/>
                      </a:pPr>
                      <a:r>
                        <a:rPr lang="en-US" sz="18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Server is overloaded; genuine students cannot book</a:t>
                      </a:r>
                      <a:endParaRPr lang="en-US" sz="18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c>
                  <a:txBody>
                    <a:bodyPr/>
                    <a:lstStyle/>
                    <a:p>
                      <a:pPr marL="0" indent="0" algn="l">
                        <a:buNone/>
                      </a:pPr>
                      <a:r>
                        <a:rPr lang="en-US" sz="18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Availability</a:t>
                      </a:r>
                      <a:endParaRPr lang="en-US" sz="18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c>
                  <a:txBody>
                    <a:bodyPr/>
                    <a:lstStyle/>
                    <a:p>
                      <a:pPr marL="0" indent="0" algn="l">
                        <a:buNone/>
                      </a:pPr>
                      <a:r>
                        <a:rPr lang="en-US" sz="18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Rate limiting, DoS protection, load balancing</a:t>
                      </a:r>
                      <a:endParaRPr lang="en-US" sz="18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r>
              <a:tr h="914400">
                <a:tc>
                  <a:txBody>
                    <a:bodyPr/>
                    <a:lstStyle/>
                    <a:p>
                      <a:pPr marL="0" indent="0" algn="l">
                        <a:buNone/>
                      </a:pPr>
                      <a:r>
                        <a:rPr lang="en-US" sz="18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3. Data tampering (altered request)</a:t>
                      </a:r>
                      <a:endParaRPr lang="en-US" sz="18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2F2F2"/>
                    </a:solidFill>
                  </a:tcPr>
                </a:tc>
                <a:tc>
                  <a:txBody>
                    <a:bodyPr/>
                    <a:lstStyle/>
                    <a:p>
                      <a:pPr marL="0" indent="0" algn="l">
                        <a:buNone/>
                      </a:pPr>
                      <a:r>
                        <a:rPr lang="en-US" sz="18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Ticket price or seat data is changed</a:t>
                      </a:r>
                      <a:endParaRPr lang="en-US" sz="18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c>
                  <a:txBody>
                    <a:bodyPr/>
                    <a:lstStyle/>
                    <a:p>
                      <a:pPr marL="0" indent="0" algn="l">
                        <a:buNone/>
                      </a:pPr>
                      <a:r>
                        <a:rPr lang="en-US" sz="1800" b="1"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Integrity</a:t>
                      </a:r>
                      <a:endParaRPr lang="en-US" sz="18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c>
                  <a:txBody>
                    <a:bodyPr/>
                    <a:lstStyle/>
                    <a:p>
                      <a:pPr marL="0" indent="0" algn="l">
                        <a:buNone/>
                      </a:pPr>
                      <a:r>
                        <a:rPr lang="en-US" sz="1800" dirty="0">
                          <a:solidFill>
                            <a:srgbClr val="000000"/>
                          </a:solidFill>
                          <a:latin typeface="Times New Roman" panose="02020603050405020304" pitchFamily="34" charset="0"/>
                          <a:ea typeface="Times New Roman" panose="02020603050405020304" pitchFamily="34" charset="-122"/>
                          <a:cs typeface="Times New Roman" panose="02020603050405020304" pitchFamily="34" charset="-120"/>
                        </a:rPr>
                        <a:t>Input validation, server-side price checks, audit logs</a:t>
                      </a:r>
                      <a:endParaRPr lang="en-US" sz="1800" dirty="0">
                        <a:latin typeface="Times New Roman" panose="02020603050405020304" pitchFamily="34" charset="0"/>
                        <a:ea typeface="Times New Roman" panose="02020603050405020304" pitchFamily="34" charset="0"/>
                        <a:cs typeface="Times New Roman" panose="02020603050405020304" pitchFamily="34" charset="0"/>
                      </a:endParaRPr>
                    </a:p>
                  </a:txBody>
                  <a:tcPr marL="101600" marR="101600" marT="50800" marB="50800" anchor="ctr">
                    <a:lnL w="12700" cap="flat" cmpd="sng" algn="ctr">
                      <a:solidFill>
                        <a:srgbClr val="1F3864"/>
                      </a:solidFill>
                      <a:prstDash val="solid"/>
                      <a:round/>
                      <a:headEnd type="none" w="med" len="med"/>
                      <a:tailEnd type="none" w="med" len="med"/>
                    </a:lnL>
                    <a:lnR w="12700" cap="flat" cmpd="sng" algn="ctr">
                      <a:solidFill>
                        <a:srgbClr val="1F3864"/>
                      </a:solidFill>
                      <a:prstDash val="solid"/>
                      <a:round/>
                      <a:headEnd type="none" w="med" len="med"/>
                      <a:tailEnd type="none" w="med" len="med"/>
                    </a:lnR>
                    <a:lnT w="12700" cap="flat" cmpd="sng" algn="ctr">
                      <a:solidFill>
                        <a:srgbClr val="1F3864"/>
                      </a:solidFill>
                      <a:prstDash val="solid"/>
                      <a:round/>
                      <a:headEnd type="none" w="med" len="med"/>
                      <a:tailEnd type="none" w="med" len="med"/>
                    </a:lnT>
                    <a:lnB w="12700" cap="flat" cmpd="sng" algn="ctr">
                      <a:solidFill>
                        <a:srgbClr val="1F386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72800" y="6428232"/>
            <a:ext cx="822960" cy="320040"/>
          </a:xfrm>
          <a:prstGeom prst="rect">
            <a:avLst/>
          </a:prstGeom>
        </p:spPr>
        <p:txBody>
          <a:bodyPr/>
          <a:lstStyle>
            <a:lvl1pPr>
              <a:defRPr sz="1400">
                <a:solidFill>
                  <a:srgbClr val="000000"/>
                </a:solidFill>
                <a:latin typeface="Times New Roman" panose="02020603050405020304"/>
                <a:ea typeface="Times New Roman" panose="02020603050405020304"/>
                <a:cs typeface="Times New Roman" panose="02020603050405020304"/>
              </a:defRPr>
            </a:lvl1pPr>
          </a:lstStyle>
          <a:p>
            <a:pPr algn="r"/>
            <a:fld id="{F7021451-1387-4CA6-816F-3879F97B5CBC}" type="slidenum">
              <a:rPr lang="en-US" b="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2" hasCustomPrompt="1"/>
          </p:nvPr>
        </p:nvSpPr>
        <p:spPr>
          <a:xfrm>
            <a:off x="1371600" y="274320"/>
            <a:ext cx="9418320" cy="914400"/>
          </a:xfrm>
          <a:prstGeom prst="rect">
            <a:avLst/>
          </a:prstGeom>
          <a:noFill/>
        </p:spPr>
        <p:txBody>
          <a:bodyPr wrap="square" lIns="0" tIns="0" rIns="0" bIns="0" rtlCol="0" anchor="ctr"/>
          <a:lstStyle/>
          <a:p>
            <a:pPr marL="0" indent="0" algn="ctr">
              <a:buNone/>
            </a:pPr>
            <a:r>
              <a:rPr lang="en-US" sz="32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Prevention and Security Measures</a:t>
            </a:r>
            <a:endParaRPr lang="en-US" sz="3200" dirty="0"/>
          </a:p>
        </p:txBody>
      </p:sp>
      <p:sp>
        <p:nvSpPr>
          <p:cNvPr id="4" name="Measure 1"/>
          <p:cNvSpPr/>
          <p:nvPr/>
        </p:nvSpPr>
        <p:spPr>
          <a:xfrm>
            <a:off x="548640" y="1508760"/>
            <a:ext cx="3566160" cy="2148840"/>
          </a:xfrm>
          <a:prstGeom prst="roundRect">
            <a:avLst>
              <a:gd name="adj" fmla="val 4255"/>
            </a:avLst>
          </a:prstGeom>
          <a:solidFill>
            <a:srgbClr val="DCE6F5"/>
          </a:solidFill>
          <a:ln w="15875">
            <a:solidFill>
              <a:srgbClr val="1F3864"/>
            </a:solidFill>
            <a:prstDash val="solid"/>
          </a:ln>
        </p:spPr>
      </p:sp>
      <p:sp>
        <p:nvSpPr>
          <p:cNvPr id="5" name="Measure 1 text"/>
          <p:cNvSpPr txBox="1"/>
          <p:nvPr/>
        </p:nvSpPr>
        <p:spPr>
          <a:xfrm>
            <a:off x="640080" y="1554480"/>
            <a:ext cx="3383280" cy="2057400"/>
          </a:xfrm>
          <a:prstGeom prst="rect">
            <a:avLst/>
          </a:prstGeom>
          <a:noFill/>
        </p:spPr>
        <p:txBody>
          <a:bodyPr wrap="square" lIns="635" tIns="635" rIns="635" bIns="635" rtlCol="0" anchor="t"/>
          <a:lstStyle/>
          <a:p>
            <a:pPr marL="0" indent="0">
              <a:spcAft>
                <a:spcPts val="400"/>
              </a:spcAft>
              <a:buNone/>
            </a:pPr>
            <a:r>
              <a:rPr lang="en-US" sz="24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Passwords and MFA</a:t>
            </a:r>
            <a:endParaRPr lang="en-US" sz="2400" dirty="0"/>
          </a:p>
          <a:p>
            <a:pPr marL="0" indent="0">
              <a:spcAft>
                <a:spcPts val="400"/>
              </a:spcAft>
              <a:buNone/>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Long unique passwords plus a second step such as an OTP.</a:t>
            </a:r>
            <a:endParaRPr lang="en-US" sz="2400" dirty="0"/>
          </a:p>
          <a:p>
            <a:pPr marL="0" indent="0">
              <a:buNone/>
            </a:pPr>
            <a:r>
              <a:rPr lang="en-US" sz="18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Protects: C</a:t>
            </a:r>
            <a:endParaRPr lang="en-US" sz="2400" dirty="0"/>
          </a:p>
        </p:txBody>
      </p:sp>
      <p:sp>
        <p:nvSpPr>
          <p:cNvPr id="6" name="Measure 2"/>
          <p:cNvSpPr/>
          <p:nvPr/>
        </p:nvSpPr>
        <p:spPr>
          <a:xfrm>
            <a:off x="4297680" y="1508760"/>
            <a:ext cx="3566160" cy="2148840"/>
          </a:xfrm>
          <a:prstGeom prst="roundRect">
            <a:avLst>
              <a:gd name="adj" fmla="val 4255"/>
            </a:avLst>
          </a:prstGeom>
          <a:solidFill>
            <a:srgbClr val="E2EFDA"/>
          </a:solidFill>
          <a:ln w="15875">
            <a:solidFill>
              <a:srgbClr val="1F3864"/>
            </a:solidFill>
            <a:prstDash val="solid"/>
          </a:ln>
        </p:spPr>
      </p:sp>
      <p:sp>
        <p:nvSpPr>
          <p:cNvPr id="7" name="Measure 2 text"/>
          <p:cNvSpPr txBox="1"/>
          <p:nvPr/>
        </p:nvSpPr>
        <p:spPr>
          <a:xfrm>
            <a:off x="4389120" y="1554480"/>
            <a:ext cx="3383280" cy="2057400"/>
          </a:xfrm>
          <a:prstGeom prst="rect">
            <a:avLst/>
          </a:prstGeom>
          <a:noFill/>
        </p:spPr>
        <p:txBody>
          <a:bodyPr wrap="square" lIns="635" tIns="635" rIns="635" bIns="635" rtlCol="0" anchor="t"/>
          <a:lstStyle/>
          <a:p>
            <a:pPr marL="0" indent="0">
              <a:spcAft>
                <a:spcPts val="400"/>
              </a:spcAft>
              <a:buNone/>
            </a:pPr>
            <a:r>
              <a:rPr lang="en-US" sz="24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Encryption</a:t>
            </a:r>
            <a:endParaRPr lang="en-US" sz="2400" dirty="0"/>
          </a:p>
          <a:p>
            <a:pPr marL="0" indent="0">
              <a:spcAft>
                <a:spcPts val="400"/>
              </a:spcAft>
              <a:buNone/>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HTTPS/TLS for data in transit; encryption for stored data.</a:t>
            </a:r>
            <a:endParaRPr lang="en-US" sz="2400" dirty="0"/>
          </a:p>
          <a:p>
            <a:pPr marL="0" indent="0">
              <a:buNone/>
            </a:pPr>
            <a:r>
              <a:rPr lang="en-US" sz="18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Protects: C and I</a:t>
            </a:r>
            <a:endParaRPr lang="en-US" sz="2400" dirty="0"/>
          </a:p>
        </p:txBody>
      </p:sp>
      <p:sp>
        <p:nvSpPr>
          <p:cNvPr id="8" name="Measure 3"/>
          <p:cNvSpPr/>
          <p:nvPr/>
        </p:nvSpPr>
        <p:spPr>
          <a:xfrm>
            <a:off x="8046720" y="1508760"/>
            <a:ext cx="3566160" cy="2148840"/>
          </a:xfrm>
          <a:prstGeom prst="roundRect">
            <a:avLst>
              <a:gd name="adj" fmla="val 4255"/>
            </a:avLst>
          </a:prstGeom>
          <a:solidFill>
            <a:srgbClr val="FFF2CC"/>
          </a:solidFill>
          <a:ln w="15875">
            <a:solidFill>
              <a:srgbClr val="1F3864"/>
            </a:solidFill>
            <a:prstDash val="solid"/>
          </a:ln>
        </p:spPr>
      </p:sp>
      <p:sp>
        <p:nvSpPr>
          <p:cNvPr id="9" name="Measure 3 text"/>
          <p:cNvSpPr txBox="1"/>
          <p:nvPr/>
        </p:nvSpPr>
        <p:spPr>
          <a:xfrm>
            <a:off x="8138160" y="1554480"/>
            <a:ext cx="3383280" cy="2057400"/>
          </a:xfrm>
          <a:prstGeom prst="rect">
            <a:avLst/>
          </a:prstGeom>
          <a:noFill/>
        </p:spPr>
        <p:txBody>
          <a:bodyPr wrap="square" lIns="635" tIns="635" rIns="635" bIns="635" rtlCol="0" anchor="t"/>
          <a:lstStyle/>
          <a:p>
            <a:pPr marL="0" indent="0">
              <a:spcAft>
                <a:spcPts val="400"/>
              </a:spcAft>
              <a:buNone/>
            </a:pPr>
            <a:r>
              <a:rPr lang="en-US" sz="24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Firewall and IDS/IPS</a:t>
            </a:r>
            <a:endParaRPr lang="en-US" sz="2400" dirty="0"/>
          </a:p>
          <a:p>
            <a:pPr marL="0" indent="0">
              <a:spcAft>
                <a:spcPts val="400"/>
              </a:spcAft>
              <a:buNone/>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Filter traffic and raise alerts on suspicious activity.</a:t>
            </a:r>
            <a:endParaRPr lang="en-US" sz="2400" dirty="0"/>
          </a:p>
          <a:p>
            <a:pPr marL="0" indent="0">
              <a:buNone/>
            </a:pPr>
            <a:r>
              <a:rPr lang="en-US" sz="18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Protects: C, I and A</a:t>
            </a:r>
            <a:endParaRPr lang="en-US" sz="2400" dirty="0"/>
          </a:p>
        </p:txBody>
      </p:sp>
      <p:sp>
        <p:nvSpPr>
          <p:cNvPr id="10" name="Measure 4"/>
          <p:cNvSpPr/>
          <p:nvPr/>
        </p:nvSpPr>
        <p:spPr>
          <a:xfrm>
            <a:off x="548640" y="3840480"/>
            <a:ext cx="3566160" cy="2148840"/>
          </a:xfrm>
          <a:prstGeom prst="roundRect">
            <a:avLst>
              <a:gd name="adj" fmla="val 4255"/>
            </a:avLst>
          </a:prstGeom>
          <a:solidFill>
            <a:srgbClr val="FFF2CC"/>
          </a:solidFill>
          <a:ln w="15875">
            <a:solidFill>
              <a:srgbClr val="1F3864"/>
            </a:solidFill>
            <a:prstDash val="solid"/>
          </a:ln>
        </p:spPr>
      </p:sp>
      <p:sp>
        <p:nvSpPr>
          <p:cNvPr id="11" name="Measure 4 text"/>
          <p:cNvSpPr txBox="1"/>
          <p:nvPr/>
        </p:nvSpPr>
        <p:spPr>
          <a:xfrm>
            <a:off x="640080" y="3886200"/>
            <a:ext cx="3383280" cy="2057400"/>
          </a:xfrm>
          <a:prstGeom prst="rect">
            <a:avLst/>
          </a:prstGeom>
          <a:noFill/>
        </p:spPr>
        <p:txBody>
          <a:bodyPr wrap="square" lIns="635" tIns="635" rIns="635" bIns="635" rtlCol="0" anchor="t"/>
          <a:lstStyle/>
          <a:p>
            <a:pPr marL="0" indent="0">
              <a:spcAft>
                <a:spcPts val="400"/>
              </a:spcAft>
              <a:buNone/>
            </a:pPr>
            <a:r>
              <a:rPr lang="en-US" sz="24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Updates and Patches</a:t>
            </a:r>
            <a:endParaRPr lang="en-US" sz="2400" dirty="0"/>
          </a:p>
          <a:p>
            <a:pPr marL="0" indent="0">
              <a:spcAft>
                <a:spcPts val="400"/>
              </a:spcAft>
              <a:buNone/>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Fix known weaknesses before attackers use them.</a:t>
            </a:r>
            <a:endParaRPr lang="en-US" sz="2400" dirty="0"/>
          </a:p>
          <a:p>
            <a:pPr marL="0" indent="0">
              <a:buNone/>
            </a:pPr>
            <a:r>
              <a:rPr lang="en-US" sz="18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Protects: C, I and A</a:t>
            </a:r>
            <a:endParaRPr lang="en-US" sz="2400" dirty="0"/>
          </a:p>
        </p:txBody>
      </p:sp>
      <p:sp>
        <p:nvSpPr>
          <p:cNvPr id="12" name="Measure 5"/>
          <p:cNvSpPr/>
          <p:nvPr/>
        </p:nvSpPr>
        <p:spPr>
          <a:xfrm>
            <a:off x="4297680" y="3840480"/>
            <a:ext cx="3566160" cy="2148840"/>
          </a:xfrm>
          <a:prstGeom prst="roundRect">
            <a:avLst>
              <a:gd name="adj" fmla="val 4255"/>
            </a:avLst>
          </a:prstGeom>
          <a:solidFill>
            <a:srgbClr val="E2EFDA"/>
          </a:solidFill>
          <a:ln w="15875">
            <a:solidFill>
              <a:srgbClr val="1F3864"/>
            </a:solidFill>
            <a:prstDash val="solid"/>
          </a:ln>
        </p:spPr>
      </p:sp>
      <p:sp>
        <p:nvSpPr>
          <p:cNvPr id="13" name="Measure 5 text"/>
          <p:cNvSpPr txBox="1"/>
          <p:nvPr/>
        </p:nvSpPr>
        <p:spPr>
          <a:xfrm>
            <a:off x="4389120" y="3886200"/>
            <a:ext cx="3383280" cy="2057400"/>
          </a:xfrm>
          <a:prstGeom prst="rect">
            <a:avLst/>
          </a:prstGeom>
          <a:noFill/>
        </p:spPr>
        <p:txBody>
          <a:bodyPr wrap="square" lIns="635" tIns="635" rIns="635" bIns="635" rtlCol="0" anchor="t"/>
          <a:lstStyle/>
          <a:p>
            <a:pPr marL="0" indent="0">
              <a:spcAft>
                <a:spcPts val="400"/>
              </a:spcAft>
              <a:buNone/>
            </a:pPr>
            <a:r>
              <a:rPr lang="en-US" sz="24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Backup and Recovery</a:t>
            </a:r>
            <a:endParaRPr lang="en-US" sz="2400" dirty="0"/>
          </a:p>
          <a:p>
            <a:pPr marL="0" indent="0">
              <a:spcAft>
                <a:spcPts val="400"/>
              </a:spcAft>
              <a:buNone/>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Keep copies and spare servers to restore service quickly.</a:t>
            </a:r>
            <a:endParaRPr lang="en-US" sz="2400" dirty="0"/>
          </a:p>
          <a:p>
            <a:pPr marL="0" indent="0">
              <a:buNone/>
            </a:pPr>
            <a:r>
              <a:rPr lang="en-US" sz="18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Protects: I and A</a:t>
            </a:r>
            <a:endParaRPr lang="en-US" sz="2400" dirty="0"/>
          </a:p>
        </p:txBody>
      </p:sp>
      <p:sp>
        <p:nvSpPr>
          <p:cNvPr id="14" name="Measure 6"/>
          <p:cNvSpPr/>
          <p:nvPr/>
        </p:nvSpPr>
        <p:spPr>
          <a:xfrm>
            <a:off x="8046720" y="3840480"/>
            <a:ext cx="3566160" cy="2148840"/>
          </a:xfrm>
          <a:prstGeom prst="roundRect">
            <a:avLst>
              <a:gd name="adj" fmla="val 4255"/>
            </a:avLst>
          </a:prstGeom>
          <a:solidFill>
            <a:srgbClr val="DCE6F5"/>
          </a:solidFill>
          <a:ln w="15875">
            <a:solidFill>
              <a:srgbClr val="1F3864"/>
            </a:solidFill>
            <a:prstDash val="solid"/>
          </a:ln>
        </p:spPr>
      </p:sp>
      <p:sp>
        <p:nvSpPr>
          <p:cNvPr id="15" name="Measure 6 text"/>
          <p:cNvSpPr txBox="1"/>
          <p:nvPr/>
        </p:nvSpPr>
        <p:spPr>
          <a:xfrm>
            <a:off x="8138160" y="3886200"/>
            <a:ext cx="3383280" cy="2057400"/>
          </a:xfrm>
          <a:prstGeom prst="rect">
            <a:avLst/>
          </a:prstGeom>
          <a:noFill/>
        </p:spPr>
        <p:txBody>
          <a:bodyPr wrap="square" lIns="635" tIns="635" rIns="635" bIns="635" rtlCol="0" anchor="t"/>
          <a:lstStyle/>
          <a:p>
            <a:pPr marL="0" indent="0">
              <a:spcAft>
                <a:spcPts val="400"/>
              </a:spcAft>
              <a:buNone/>
            </a:pPr>
            <a:r>
              <a:rPr lang="en-US" sz="24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Awareness Training</a:t>
            </a:r>
            <a:endParaRPr lang="en-US" sz="2400" dirty="0"/>
          </a:p>
          <a:p>
            <a:pPr marL="0" indent="0">
              <a:spcAft>
                <a:spcPts val="400"/>
              </a:spcAft>
              <a:buNone/>
            </a:pPr>
            <a:r>
              <a:rPr lang="en-US" sz="22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Teach users to spot phishing and report it.</a:t>
            </a:r>
            <a:endParaRPr lang="en-US" sz="2400" dirty="0"/>
          </a:p>
          <a:p>
            <a:pPr marL="0" indent="0">
              <a:buNone/>
            </a:pPr>
            <a:r>
              <a:rPr lang="en-US" sz="18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Protects: C, I and A</a:t>
            </a:r>
            <a:endParaRPr lang="en-US" sz="2400" dirty="0"/>
          </a:p>
        </p:txBody>
      </p:sp>
      <p:sp>
        <p:nvSpPr>
          <p:cNvPr id="16" name="Prevention caption"/>
          <p:cNvSpPr txBox="1"/>
          <p:nvPr/>
        </p:nvSpPr>
        <p:spPr>
          <a:xfrm>
            <a:off x="548640" y="6172200"/>
            <a:ext cx="8229600" cy="320040"/>
          </a:xfrm>
          <a:prstGeom prst="rect">
            <a:avLst/>
          </a:prstGeom>
          <a:noFill/>
        </p:spPr>
        <p:txBody>
          <a:bodyPr wrap="square" lIns="635" tIns="635" rIns="635" bIns="635" rtlCol="0" anchor="t"/>
          <a:lstStyle/>
          <a:p>
            <a:pPr marL="0" indent="0">
              <a:buNone/>
            </a:pPr>
            <a:r>
              <a:rPr lang="en-US" sz="16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C = Confidentiality,  I = Integrity,  A = Availability</a:t>
            </a:r>
            <a:endParaRPr lang="en-US" sz="1600" dirty="0"/>
          </a:p>
        </p:txBody>
      </p:sp>
      <p:sp>
        <p:nvSpPr>
          <p:cNvPr id="25" name="Slide Number Placeholder 0"/>
          <p:cNvSpPr>
            <a:spLocks noGrp="1"/>
          </p:cNvSpPr>
          <p:nvPr>
            <p:ph type="sldNum" sz="quarter" idx="4294967295"/>
          </p:nvPr>
        </p:nvSpPr>
        <p:spPr>
          <a:xfrm>
            <a:off x="10972800" y="6428232"/>
            <a:ext cx="822960" cy="320040"/>
          </a:xfrm>
          <a:prstGeom prst="rect">
            <a:avLst/>
          </a:prstGeom>
        </p:spPr>
        <p:txBody>
          <a:bodyPr/>
          <a:lstStyle>
            <a:lvl1pPr>
              <a:defRPr sz="1400">
                <a:solidFill>
                  <a:srgbClr val="000000"/>
                </a:solidFill>
                <a:latin typeface="Times New Roman" panose="02020603050405020304"/>
                <a:ea typeface="Times New Roman" panose="02020603050405020304"/>
                <a:cs typeface="Times New Roman" panose="02020603050405020304"/>
              </a:defRPr>
            </a:lvl1pPr>
          </a:lstStyle>
          <a:p>
            <a:pPr algn="r"/>
            <a:fld id="{F7021451-1387-4CA6-816F-3879F97B5CBC}" type="slidenum">
              <a:rPr lang="en-US" b="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2" hasCustomPrompt="1"/>
          </p:nvPr>
        </p:nvSpPr>
        <p:spPr>
          <a:xfrm>
            <a:off x="1371600" y="274320"/>
            <a:ext cx="9418320" cy="914400"/>
          </a:xfrm>
          <a:prstGeom prst="rect">
            <a:avLst/>
          </a:prstGeom>
          <a:noFill/>
        </p:spPr>
        <p:txBody>
          <a:bodyPr wrap="square" lIns="0" tIns="0" rIns="0" bIns="0" rtlCol="0" anchor="ctr"/>
          <a:lstStyle/>
          <a:p>
            <a:pPr marL="0" indent="0" algn="ctr">
              <a:buNone/>
            </a:pPr>
            <a:r>
              <a:rPr lang="en-US" sz="32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Conclusion</a:t>
            </a:r>
            <a:endParaRPr lang="en-US" sz="3200" dirty="0"/>
          </a:p>
        </p:txBody>
      </p:sp>
      <p:sp>
        <p:nvSpPr>
          <p:cNvPr id="4" name="Conclusion bullets"/>
          <p:cNvSpPr txBox="1"/>
          <p:nvPr/>
        </p:nvSpPr>
        <p:spPr>
          <a:xfrm>
            <a:off x="548640" y="1600200"/>
            <a:ext cx="6126480" cy="4572000"/>
          </a:xfrm>
          <a:prstGeom prst="rect">
            <a:avLst/>
          </a:prstGeom>
          <a:noFill/>
        </p:spPr>
        <p:txBody>
          <a:bodyPr wrap="square" lIns="635" tIns="635" rIns="635" bIns="635" rtlCol="0" anchor="t"/>
          <a:lstStyle/>
          <a:p>
            <a:pPr marL="342900" indent="-342900">
              <a:spcAft>
                <a:spcPts val="600"/>
              </a:spcAft>
              <a:buSzPct val="100000"/>
              <a:buChar char="•"/>
            </a:pPr>
            <a:r>
              <a:rPr lang="en-US" sz="24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The CIA triad defines what security must protect.</a:t>
            </a:r>
            <a:endParaRPr lang="en-US" sz="2400" dirty="0"/>
          </a:p>
          <a:p>
            <a:pPr marL="342900" indent="-342900">
              <a:spcAft>
                <a:spcPts val="600"/>
              </a:spcAft>
              <a:buSzPct val="100000"/>
              <a:buChar char="•"/>
            </a:pPr>
            <a:r>
              <a:rPr lang="en-US" sz="24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Threat = possible danger; attack = actual attempt; risk = chance of loss.</a:t>
            </a:r>
            <a:endParaRPr lang="en-US" sz="2400" dirty="0"/>
          </a:p>
          <a:p>
            <a:pPr marL="342900" indent="-342900">
              <a:spcAft>
                <a:spcPts val="600"/>
              </a:spcAft>
              <a:buSzPct val="100000"/>
              <a:buChar char="•"/>
            </a:pPr>
            <a:r>
              <a:rPr lang="en-US" sz="24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Phishing, malware, DoS, password attacks and MITM hit different goals.</a:t>
            </a:r>
            <a:endParaRPr lang="en-US" sz="2400" dirty="0"/>
          </a:p>
          <a:p>
            <a:pPr marL="342900" indent="-342900">
              <a:spcAft>
                <a:spcPts val="600"/>
              </a:spcAft>
              <a:buSzPct val="100000"/>
              <a:buChar char="•"/>
            </a:pPr>
            <a:r>
              <a:rPr lang="en-US" sz="24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Layered defence (technology, people, process) reduces risk.</a:t>
            </a:r>
            <a:endParaRPr lang="en-US" sz="2400" dirty="0"/>
          </a:p>
          <a:p>
            <a:pPr marL="342900" indent="-342900">
              <a:spcAft>
                <a:spcPts val="600"/>
              </a:spcAft>
              <a:buSzPct val="100000"/>
              <a:buChar char="•"/>
            </a:pPr>
            <a:r>
              <a:rPr lang="en-US" sz="24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Security is continuous: assess, protect, monitor, improve.</a:t>
            </a:r>
            <a:endParaRPr lang="en-US" sz="2400" dirty="0"/>
          </a:p>
        </p:txBody>
      </p:sp>
      <p:sp>
        <p:nvSpPr>
          <p:cNvPr id="5" name="Recap 1"/>
          <p:cNvSpPr/>
          <p:nvPr/>
        </p:nvSpPr>
        <p:spPr>
          <a:xfrm>
            <a:off x="7315200" y="1554480"/>
            <a:ext cx="4297680" cy="685800"/>
          </a:xfrm>
          <a:prstGeom prst="roundRect">
            <a:avLst>
              <a:gd name="adj" fmla="val 13333"/>
            </a:avLst>
          </a:prstGeom>
          <a:solidFill>
            <a:srgbClr val="DCE6F5"/>
          </a:solidFill>
          <a:ln w="15875">
            <a:solidFill>
              <a:srgbClr val="1F3864"/>
            </a:solidFill>
            <a:prstDash val="solid"/>
          </a:ln>
        </p:spPr>
      </p:sp>
      <p:sp>
        <p:nvSpPr>
          <p:cNvPr id="6" name="Recap text 1"/>
          <p:cNvSpPr txBox="1"/>
          <p:nvPr/>
        </p:nvSpPr>
        <p:spPr>
          <a:xfrm>
            <a:off x="7315200" y="1554480"/>
            <a:ext cx="4297680" cy="685800"/>
          </a:xfrm>
          <a:prstGeom prst="rect">
            <a:avLst/>
          </a:prstGeom>
          <a:noFill/>
        </p:spPr>
        <p:txBody>
          <a:bodyPr wrap="square" lIns="0" tIns="0" rIns="0" bIns="0" rtlCol="0" anchor="ctr"/>
          <a:lstStyle/>
          <a:p>
            <a:pPr marL="0" indent="0" algn="ctr">
              <a:buNone/>
            </a:pPr>
            <a:r>
              <a:rPr lang="en-US" sz="22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Threat</a:t>
            </a:r>
            <a:endParaRPr lang="en-US" sz="2200" dirty="0"/>
          </a:p>
        </p:txBody>
      </p:sp>
      <p:sp>
        <p:nvSpPr>
          <p:cNvPr id="7" name="Recap arrow 1"/>
          <p:cNvSpPr txBox="1"/>
          <p:nvPr/>
        </p:nvSpPr>
        <p:spPr>
          <a:xfrm>
            <a:off x="7315200" y="2212848"/>
            <a:ext cx="4297680" cy="301752"/>
          </a:xfrm>
          <a:prstGeom prst="rect">
            <a:avLst/>
          </a:prstGeom>
          <a:noFill/>
        </p:spPr>
        <p:txBody>
          <a:bodyPr wrap="square" lIns="0" tIns="0" rIns="0" bIns="0" rtlCol="0" anchor="ctr"/>
          <a:lstStyle/>
          <a:p>
            <a:pPr marL="0" indent="0" algn="ctr">
              <a:buNone/>
            </a:pPr>
            <a:r>
              <a:rPr lang="en-US" sz="20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2000" dirty="0"/>
          </a:p>
        </p:txBody>
      </p:sp>
      <p:sp>
        <p:nvSpPr>
          <p:cNvPr id="8" name="Recap 2"/>
          <p:cNvSpPr/>
          <p:nvPr/>
        </p:nvSpPr>
        <p:spPr>
          <a:xfrm>
            <a:off x="7315200" y="2514600"/>
            <a:ext cx="4297680" cy="685800"/>
          </a:xfrm>
          <a:prstGeom prst="roundRect">
            <a:avLst>
              <a:gd name="adj" fmla="val 13333"/>
            </a:avLst>
          </a:prstGeom>
          <a:solidFill>
            <a:srgbClr val="FFF2CC"/>
          </a:solidFill>
          <a:ln w="15875">
            <a:solidFill>
              <a:srgbClr val="1F3864"/>
            </a:solidFill>
            <a:prstDash val="solid"/>
          </a:ln>
        </p:spPr>
      </p:sp>
      <p:sp>
        <p:nvSpPr>
          <p:cNvPr id="9" name="Recap text 2"/>
          <p:cNvSpPr txBox="1"/>
          <p:nvPr/>
        </p:nvSpPr>
        <p:spPr>
          <a:xfrm>
            <a:off x="7315200" y="2514600"/>
            <a:ext cx="4297680" cy="685800"/>
          </a:xfrm>
          <a:prstGeom prst="rect">
            <a:avLst/>
          </a:prstGeom>
          <a:noFill/>
        </p:spPr>
        <p:txBody>
          <a:bodyPr wrap="square" lIns="0" tIns="0" rIns="0" bIns="0" rtlCol="0" anchor="ctr"/>
          <a:lstStyle/>
          <a:p>
            <a:pPr marL="0" indent="0" algn="ctr">
              <a:buNone/>
            </a:pPr>
            <a:r>
              <a:rPr lang="en-US" sz="22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Vulnerability</a:t>
            </a:r>
            <a:endParaRPr lang="en-US" sz="2200" dirty="0"/>
          </a:p>
        </p:txBody>
      </p:sp>
      <p:sp>
        <p:nvSpPr>
          <p:cNvPr id="10" name="Recap arrow 2"/>
          <p:cNvSpPr txBox="1"/>
          <p:nvPr/>
        </p:nvSpPr>
        <p:spPr>
          <a:xfrm>
            <a:off x="7315200" y="3172968"/>
            <a:ext cx="4297680" cy="301752"/>
          </a:xfrm>
          <a:prstGeom prst="rect">
            <a:avLst/>
          </a:prstGeom>
          <a:noFill/>
        </p:spPr>
        <p:txBody>
          <a:bodyPr wrap="square" lIns="0" tIns="0" rIns="0" bIns="0" rtlCol="0" anchor="ctr"/>
          <a:lstStyle/>
          <a:p>
            <a:pPr marL="0" indent="0" algn="ctr">
              <a:buNone/>
            </a:pPr>
            <a:r>
              <a:rPr lang="en-US" sz="20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2000" dirty="0"/>
          </a:p>
        </p:txBody>
      </p:sp>
      <p:sp>
        <p:nvSpPr>
          <p:cNvPr id="11" name="Recap 3"/>
          <p:cNvSpPr/>
          <p:nvPr/>
        </p:nvSpPr>
        <p:spPr>
          <a:xfrm>
            <a:off x="7315200" y="3474720"/>
            <a:ext cx="4297680" cy="685800"/>
          </a:xfrm>
          <a:prstGeom prst="roundRect">
            <a:avLst>
              <a:gd name="adj" fmla="val 13333"/>
            </a:avLst>
          </a:prstGeom>
          <a:solidFill>
            <a:srgbClr val="FBE0E0"/>
          </a:solidFill>
          <a:ln w="15875">
            <a:solidFill>
              <a:srgbClr val="1F3864"/>
            </a:solidFill>
            <a:prstDash val="solid"/>
          </a:ln>
        </p:spPr>
      </p:sp>
      <p:sp>
        <p:nvSpPr>
          <p:cNvPr id="12" name="Recap text 3"/>
          <p:cNvSpPr txBox="1"/>
          <p:nvPr/>
        </p:nvSpPr>
        <p:spPr>
          <a:xfrm>
            <a:off x="7315200" y="3474720"/>
            <a:ext cx="4297680" cy="685800"/>
          </a:xfrm>
          <a:prstGeom prst="rect">
            <a:avLst/>
          </a:prstGeom>
          <a:noFill/>
        </p:spPr>
        <p:txBody>
          <a:bodyPr wrap="square" lIns="0" tIns="0" rIns="0" bIns="0" rtlCol="0" anchor="ctr"/>
          <a:lstStyle/>
          <a:p>
            <a:pPr marL="0" indent="0" algn="ctr">
              <a:buNone/>
            </a:pPr>
            <a:r>
              <a:rPr lang="en-US" sz="22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Attack</a:t>
            </a:r>
            <a:endParaRPr lang="en-US" sz="2200" dirty="0"/>
          </a:p>
        </p:txBody>
      </p:sp>
      <p:sp>
        <p:nvSpPr>
          <p:cNvPr id="13" name="Recap arrow 3"/>
          <p:cNvSpPr txBox="1"/>
          <p:nvPr/>
        </p:nvSpPr>
        <p:spPr>
          <a:xfrm>
            <a:off x="7315200" y="4133088"/>
            <a:ext cx="4297680" cy="301752"/>
          </a:xfrm>
          <a:prstGeom prst="rect">
            <a:avLst/>
          </a:prstGeom>
          <a:noFill/>
        </p:spPr>
        <p:txBody>
          <a:bodyPr wrap="square" lIns="0" tIns="0" rIns="0" bIns="0" rtlCol="0" anchor="ctr"/>
          <a:lstStyle/>
          <a:p>
            <a:pPr marL="0" indent="0" algn="ctr">
              <a:buNone/>
            </a:pPr>
            <a:r>
              <a:rPr lang="en-US" sz="20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2000" dirty="0"/>
          </a:p>
        </p:txBody>
      </p:sp>
      <p:sp>
        <p:nvSpPr>
          <p:cNvPr id="14" name="Recap 4"/>
          <p:cNvSpPr/>
          <p:nvPr/>
        </p:nvSpPr>
        <p:spPr>
          <a:xfrm>
            <a:off x="7315200" y="4434840"/>
            <a:ext cx="4297680" cy="685800"/>
          </a:xfrm>
          <a:prstGeom prst="roundRect">
            <a:avLst>
              <a:gd name="adj" fmla="val 13333"/>
            </a:avLst>
          </a:prstGeom>
          <a:solidFill>
            <a:srgbClr val="F2F2F2"/>
          </a:solidFill>
          <a:ln w="15875">
            <a:solidFill>
              <a:srgbClr val="1F3864"/>
            </a:solidFill>
            <a:prstDash val="solid"/>
          </a:ln>
        </p:spPr>
      </p:sp>
      <p:sp>
        <p:nvSpPr>
          <p:cNvPr id="15" name="Recap text 4"/>
          <p:cNvSpPr txBox="1"/>
          <p:nvPr/>
        </p:nvSpPr>
        <p:spPr>
          <a:xfrm>
            <a:off x="7315200" y="4434840"/>
            <a:ext cx="4297680" cy="685800"/>
          </a:xfrm>
          <a:prstGeom prst="rect">
            <a:avLst/>
          </a:prstGeom>
          <a:noFill/>
        </p:spPr>
        <p:txBody>
          <a:bodyPr wrap="square" lIns="0" tIns="0" rIns="0" bIns="0" rtlCol="0" anchor="ctr"/>
          <a:lstStyle/>
          <a:p>
            <a:pPr marL="0" indent="0" algn="ctr">
              <a:buNone/>
            </a:pPr>
            <a:r>
              <a:rPr lang="en-US" sz="22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Impact on C, I, A</a:t>
            </a:r>
            <a:endParaRPr lang="en-US" sz="2200" dirty="0"/>
          </a:p>
        </p:txBody>
      </p:sp>
      <p:sp>
        <p:nvSpPr>
          <p:cNvPr id="16" name="Recap arrow 4"/>
          <p:cNvSpPr txBox="1"/>
          <p:nvPr/>
        </p:nvSpPr>
        <p:spPr>
          <a:xfrm>
            <a:off x="7315200" y="5093208"/>
            <a:ext cx="4297680" cy="301752"/>
          </a:xfrm>
          <a:prstGeom prst="rect">
            <a:avLst/>
          </a:prstGeom>
          <a:noFill/>
        </p:spPr>
        <p:txBody>
          <a:bodyPr wrap="square" lIns="0" tIns="0" rIns="0" bIns="0" rtlCol="0" anchor="ctr"/>
          <a:lstStyle/>
          <a:p>
            <a:pPr marL="0" indent="0" algn="ctr">
              <a:buNone/>
            </a:pPr>
            <a:r>
              <a:rPr lang="en-US" sz="20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2000" dirty="0"/>
          </a:p>
        </p:txBody>
      </p:sp>
      <p:sp>
        <p:nvSpPr>
          <p:cNvPr id="17" name="Recap 5"/>
          <p:cNvSpPr/>
          <p:nvPr/>
        </p:nvSpPr>
        <p:spPr>
          <a:xfrm>
            <a:off x="7315200" y="5394960"/>
            <a:ext cx="4297680" cy="685800"/>
          </a:xfrm>
          <a:prstGeom prst="roundRect">
            <a:avLst>
              <a:gd name="adj" fmla="val 13333"/>
            </a:avLst>
          </a:prstGeom>
          <a:solidFill>
            <a:srgbClr val="E2EFDA"/>
          </a:solidFill>
          <a:ln w="15875">
            <a:solidFill>
              <a:srgbClr val="1F3864"/>
            </a:solidFill>
            <a:prstDash val="solid"/>
          </a:ln>
        </p:spPr>
      </p:sp>
      <p:sp>
        <p:nvSpPr>
          <p:cNvPr id="18" name="Recap text 5"/>
          <p:cNvSpPr txBox="1"/>
          <p:nvPr/>
        </p:nvSpPr>
        <p:spPr>
          <a:xfrm>
            <a:off x="7315200" y="5394960"/>
            <a:ext cx="4297680" cy="685800"/>
          </a:xfrm>
          <a:prstGeom prst="rect">
            <a:avLst/>
          </a:prstGeom>
          <a:noFill/>
        </p:spPr>
        <p:txBody>
          <a:bodyPr wrap="square" lIns="0" tIns="0" rIns="0" bIns="0" rtlCol="0" anchor="ctr"/>
          <a:lstStyle/>
          <a:p>
            <a:pPr marL="0" indent="0" algn="ctr">
              <a:buNone/>
            </a:pPr>
            <a:r>
              <a:rPr lang="en-US" sz="22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Security controls</a:t>
            </a:r>
            <a:endParaRPr lang="en-US" sz="2200" dirty="0"/>
          </a:p>
        </p:txBody>
      </p:sp>
      <p:sp>
        <p:nvSpPr>
          <p:cNvPr id="25" name="Slide Number Placeholder 0"/>
          <p:cNvSpPr>
            <a:spLocks noGrp="1"/>
          </p:cNvSpPr>
          <p:nvPr>
            <p:ph type="sldNum" sz="quarter" idx="4294967295"/>
          </p:nvPr>
        </p:nvSpPr>
        <p:spPr>
          <a:xfrm>
            <a:off x="10972800" y="6428232"/>
            <a:ext cx="822960" cy="320040"/>
          </a:xfrm>
          <a:prstGeom prst="rect">
            <a:avLst/>
          </a:prstGeom>
        </p:spPr>
        <p:txBody>
          <a:bodyPr/>
          <a:lstStyle>
            <a:lvl1pPr>
              <a:defRPr sz="1400">
                <a:solidFill>
                  <a:srgbClr val="000000"/>
                </a:solidFill>
                <a:latin typeface="Times New Roman" panose="02020603050405020304"/>
                <a:ea typeface="Times New Roman" panose="02020603050405020304"/>
                <a:cs typeface="Times New Roman" panose="02020603050405020304"/>
              </a:defRPr>
            </a:lvl1pPr>
          </a:lstStyle>
          <a:p>
            <a:pPr algn="r"/>
            <a:fld id="{F7021451-1387-4CA6-816F-3879F97B5CBC}" type="slidenum">
              <a:rPr lang="en-US" b="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2" hasCustomPrompt="1"/>
          </p:nvPr>
        </p:nvSpPr>
        <p:spPr>
          <a:xfrm>
            <a:off x="1371600" y="274320"/>
            <a:ext cx="9418320" cy="914400"/>
          </a:xfrm>
          <a:prstGeom prst="rect">
            <a:avLst/>
          </a:prstGeom>
          <a:noFill/>
        </p:spPr>
        <p:txBody>
          <a:bodyPr wrap="square" lIns="0" tIns="0" rIns="0" bIns="0" rtlCol="0" anchor="ctr"/>
          <a:lstStyle/>
          <a:p>
            <a:pPr marL="0" indent="0" algn="ctr">
              <a:buNone/>
            </a:pPr>
            <a:r>
              <a:rPr lang="en-US" sz="3200" b="1"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References</a:t>
            </a:r>
            <a:endParaRPr lang="en-US" sz="3200" dirty="0"/>
          </a:p>
        </p:txBody>
      </p:sp>
      <p:sp>
        <p:nvSpPr>
          <p:cNvPr id="4" name="Reference list"/>
          <p:cNvSpPr txBox="1"/>
          <p:nvPr/>
        </p:nvSpPr>
        <p:spPr>
          <a:xfrm>
            <a:off x="548640" y="1463040"/>
            <a:ext cx="11064240" cy="4114800"/>
          </a:xfrm>
          <a:prstGeom prst="rect">
            <a:avLst/>
          </a:prstGeom>
          <a:noFill/>
        </p:spPr>
        <p:txBody>
          <a:bodyPr wrap="square" lIns="635" tIns="635" rIns="635" bIns="635" rtlCol="0" anchor="t"/>
          <a:lstStyle/>
          <a:p>
            <a:pPr marL="0" indent="0">
              <a:spcAft>
                <a:spcPts val="800"/>
              </a:spcAft>
              <a:buNone/>
            </a:pPr>
            <a:r>
              <a:rPr lang="en-US" sz="18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[1] W. Stallings, Cryptography and Network Security: Principles and Practice, 7th ed. Harlow, U.K.: Pearson, 2017.</a:t>
            </a:r>
            <a:endParaRPr lang="en-US" sz="1800" dirty="0"/>
          </a:p>
          <a:p>
            <a:pPr marL="0" indent="0">
              <a:spcAft>
                <a:spcPts val="800"/>
              </a:spcAft>
              <a:buNone/>
            </a:pPr>
            <a:r>
              <a:rPr lang="en-US" sz="18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[2] B. A. Forouzan and D. Mukhopadhyay, Cryptography and Network Security, 2nd ed. New Delhi, India: Tata McGraw-Hill, 2010.</a:t>
            </a:r>
            <a:endParaRPr lang="en-US" sz="1800" dirty="0"/>
          </a:p>
          <a:p>
            <a:pPr marL="0" indent="0">
              <a:spcAft>
                <a:spcPts val="800"/>
              </a:spcAft>
              <a:buNone/>
            </a:pPr>
            <a:r>
              <a:rPr lang="en-US" sz="18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[3] R. Shirey, “Internet Security Glossary, Version 2,” IETF RFC 4949, Aug. 2007. https://www.rfc-editor.org/rfc/rfc4949</a:t>
            </a:r>
            <a:endParaRPr lang="en-US" sz="1800" dirty="0"/>
          </a:p>
          <a:p>
            <a:pPr marL="0" indent="0">
              <a:spcAft>
                <a:spcPts val="800"/>
              </a:spcAft>
              <a:buNone/>
            </a:pPr>
            <a:r>
              <a:rPr lang="en-US" sz="18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[4] NIST, “Guide for Conducting Risk Assessments,” NIST SP 800-30 Rev. 1, Sep. 2012.</a:t>
            </a:r>
            <a:endParaRPr lang="en-US" sz="1800" dirty="0"/>
          </a:p>
          <a:p>
            <a:pPr marL="0" indent="0">
              <a:spcAft>
                <a:spcPts val="800"/>
              </a:spcAft>
              <a:buNone/>
            </a:pPr>
            <a:r>
              <a:rPr lang="en-US" sz="18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[5] NIST, “An Introduction to Information Security,” NIST SP 800-12 Rev. 1, Jun. 2017.</a:t>
            </a:r>
            <a:endParaRPr lang="en-US" sz="1800" dirty="0"/>
          </a:p>
          <a:p>
            <a:pPr marL="0" indent="0">
              <a:spcAft>
                <a:spcPts val="800"/>
              </a:spcAft>
              <a:buNone/>
            </a:pPr>
            <a:r>
              <a:rPr lang="en-US" sz="18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[6] CISA, “Understanding Denial-of-Service Attacks,” Security Tip ST04-015. https://www.cisa.gov/tips/st04-015</a:t>
            </a:r>
            <a:endParaRPr lang="en-US" sz="1800" dirty="0"/>
          </a:p>
          <a:p>
            <a:pPr marL="0" indent="0">
              <a:spcAft>
                <a:spcPts val="800"/>
              </a:spcAft>
              <a:buNone/>
            </a:pPr>
            <a:r>
              <a:rPr lang="en-US" sz="18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[7] CISA, “Avoiding Social Engineering and Phishing Attacks,” Security Tip ST04-014.</a:t>
            </a:r>
            <a:endParaRPr lang="en-US" sz="1800" dirty="0"/>
          </a:p>
          <a:p>
            <a:pPr marL="0" indent="0">
              <a:spcAft>
                <a:spcPts val="800"/>
              </a:spcAft>
              <a:buNone/>
            </a:pPr>
            <a:r>
              <a:rPr lang="en-US" sz="1800" dirty="0">
                <a:solidFill>
                  <a:schemeClr val="tx1"/>
                </a:solidFill>
                <a:latin typeface="Times New Roman" panose="02020603050405020304" pitchFamily="34" charset="0"/>
                <a:ea typeface="Times New Roman" panose="02020603050405020304" pitchFamily="34" charset="-122"/>
                <a:cs typeface="Times New Roman" panose="02020603050405020304" pitchFamily="34" charset="-120"/>
              </a:rPr>
              <a:t>[8] OWASP Foundation, “OWASP Top 10:2021.” https://owasp.org/Top10/</a:t>
            </a:r>
            <a:endParaRPr lang="en-US" sz="1800" dirty="0"/>
          </a:p>
        </p:txBody>
      </p:sp>
      <p:sp>
        <p:nvSpPr>
          <p:cNvPr id="25" name="Slide Number Placeholder 0"/>
          <p:cNvSpPr>
            <a:spLocks noGrp="1"/>
          </p:cNvSpPr>
          <p:nvPr>
            <p:ph type="sldNum" sz="quarter" idx="4294967295"/>
          </p:nvPr>
        </p:nvSpPr>
        <p:spPr>
          <a:xfrm>
            <a:off x="10972800" y="6428232"/>
            <a:ext cx="822960" cy="320040"/>
          </a:xfrm>
          <a:prstGeom prst="rect">
            <a:avLst/>
          </a:prstGeom>
        </p:spPr>
        <p:txBody>
          <a:bodyPr/>
          <a:lstStyle>
            <a:lvl1pPr>
              <a:defRPr sz="1400">
                <a:solidFill>
                  <a:srgbClr val="000000"/>
                </a:solidFill>
                <a:latin typeface="Times New Roman" panose="02020603050405020304"/>
                <a:ea typeface="Times New Roman" panose="02020603050405020304"/>
                <a:cs typeface="Times New Roman" panose="02020603050405020304"/>
              </a:defRPr>
            </a:lvl1pPr>
          </a:lstStyle>
          <a:p>
            <a:pPr algn="r"/>
            <a:fld id="{F7021451-1387-4CA6-816F-3879F97B5CBC}" type="slidenum">
              <a:rPr lang="en-US" b="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idx="102"/>
          </p:nvPr>
        </p:nvSpPr>
        <p:spPr>
          <a:xfrm>
            <a:off x="1371600" y="3131820"/>
            <a:ext cx="9418320" cy="914400"/>
          </a:xfrm>
        </p:spPr>
        <p:txBody>
          <a:bodyPr/>
          <a:p>
            <a:r>
              <a:rPr altLang="en-GB"/>
              <a:t>THANK YOU</a:t>
            </a:r>
            <a:endParaRPr altLang="en-GB"/>
          </a:p>
        </p:txBody>
      </p:sp>
    </p:spTree>
  </p:cSld>
  <p:clrMapOvr>
    <a:masterClrMapping/>
  </p:clrMapOvr>
</p:sld>
</file>

<file path=ppt/theme/theme1.xml><?xml version="1.0" encoding="utf-8"?>
<a:theme xmlns:a="http://schemas.openxmlformats.org/drawingml/2006/main" name="CSA51 Security Deck">
  <a:themeElements>
    <a:clrScheme name="CSA51 Security Deck">
      <a:dk1>
        <a:srgbClr val="000000"/>
      </a:dk1>
      <a:lt1>
        <a:srgbClr val="FFFFFF"/>
      </a:lt1>
      <a:dk2>
        <a:srgbClr val="1F3864"/>
      </a:dk2>
      <a:lt2>
        <a:srgbClr val="EEF2F8"/>
      </a:lt2>
      <a:accent1>
        <a:srgbClr val="2F5597"/>
      </a:accent1>
      <a:accent2>
        <a:srgbClr val="548235"/>
      </a:accent2>
      <a:accent3>
        <a:srgbClr val="BF8F00"/>
      </a:accent3>
      <a:accent4>
        <a:srgbClr val="C00000"/>
      </a:accent4>
      <a:accent5>
        <a:srgbClr val="7F7F7F"/>
      </a:accent5>
      <a:accent6>
        <a:srgbClr val="1F3864"/>
      </a:accent6>
      <a:hlink>
        <a:srgbClr val="1F3864"/>
      </a:hlink>
      <a:folHlink>
        <a:srgbClr val="1F3864"/>
      </a:folHlink>
    </a:clrScheme>
    <a:fontScheme name="CSA51 Security Deck">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SA51 Security Deck">
  <a:themeElements>
    <a:clrScheme name="CSA51 Security Deck">
      <a:dk1>
        <a:srgbClr val="000000"/>
      </a:dk1>
      <a:lt1>
        <a:srgbClr val="FFFFFF"/>
      </a:lt1>
      <a:dk2>
        <a:srgbClr val="1F3864"/>
      </a:dk2>
      <a:lt2>
        <a:srgbClr val="EEF2F8"/>
      </a:lt2>
      <a:accent1>
        <a:srgbClr val="2F5597"/>
      </a:accent1>
      <a:accent2>
        <a:srgbClr val="548235"/>
      </a:accent2>
      <a:accent3>
        <a:srgbClr val="BF8F00"/>
      </a:accent3>
      <a:accent4>
        <a:srgbClr val="C00000"/>
      </a:accent4>
      <a:accent5>
        <a:srgbClr val="7F7F7F"/>
      </a:accent5>
      <a:accent6>
        <a:srgbClr val="1F3864"/>
      </a:accent6>
      <a:hlink>
        <a:srgbClr val="1F3864"/>
      </a:hlink>
      <a:folHlink>
        <a:srgbClr val="1F3864"/>
      </a:folHlink>
    </a:clrScheme>
    <a:fontScheme name="CSA51 Security Deck">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6526</Words>
  <Application>WPS Presentation</Application>
  <PresentationFormat>On-screen Show (16:9)</PresentationFormat>
  <Paragraphs>422</Paragraphs>
  <Slides>14</Slides>
  <Notes>13</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14</vt:i4>
      </vt:variant>
    </vt:vector>
  </HeadingPairs>
  <TitlesOfParts>
    <vt:vector size="24" baseType="lpstr">
      <vt:lpstr>Arial</vt:lpstr>
      <vt:lpstr>SimSun</vt:lpstr>
      <vt:lpstr>Wingdings</vt:lpstr>
      <vt:lpstr>Times New Roman</vt:lpstr>
      <vt:lpstr>Times New Roman</vt:lpstr>
      <vt:lpstr>Times New Roman</vt:lpstr>
      <vt:lpstr>Times New Roman</vt:lpstr>
      <vt:lpstr>Microsoft YaHei</vt:lpstr>
      <vt:lpstr>Arial Unicode MS</vt:lpstr>
      <vt:lpstr>CSA51 Security Deck</vt:lpstr>
      <vt:lpstr>PowerPoint 演示文稿</vt:lpstr>
      <vt:lpstr>Introduction to Cybersecurity</vt:lpstr>
      <vt:lpstr>Security Goals: The CIA Triad</vt:lpstr>
      <vt:lpstr>Security Threats</vt:lpstr>
      <vt:lpstr>Security Attacks</vt:lpstr>
      <vt:lpstr>Risks and Vulnerabilities</vt:lpstr>
      <vt:lpstr>Types of Attacks</vt:lpstr>
      <vt:lpstr>Threats vs Attacks vs Risks</vt:lpstr>
      <vt:lpstr>Impact on Security Goals</vt:lpstr>
      <vt:lpstr>Case Study: Online Ticket Booking</vt:lpstr>
      <vt:lpstr>Prevention and Security Measures</vt:lpstr>
      <vt:lpstr>Conclusion</vt:lpstr>
      <vt:lpstr>References</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Attacks, Threats, Risks and Their Impact on Security Goals</dc:title>
  <dc:creator>SIMATS Engineering</dc:creator>
  <dc:subject>PptxGenJS Presentation</dc:subject>
  <cp:lastModifiedBy>WPS_1755790801</cp:lastModifiedBy>
  <cp:revision>3</cp:revision>
  <dcterms:created xsi:type="dcterms:W3CDTF">2026-10-12T01:04:00Z</dcterms:created>
  <dcterms:modified xsi:type="dcterms:W3CDTF">2026-10-12T16:38:25Z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BE3514B9F1DD48488981C2487BD0722C_13</vt:lpwstr>
  </property>
  <property fmtid="{D5CDD505-2E9C-101B-9397-08002B2CF9AE}" pid="3" name="KSOProductBuildVer">
    <vt:lpwstr>2057-12.2.0.23206</vt:lpwstr>
  </property>
</Properties>
</file>